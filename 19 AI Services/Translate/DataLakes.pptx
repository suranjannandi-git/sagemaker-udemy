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9"/>
  </p:notesMasterIdLst>
  <p:sldIdLst>
    <p:sldId id="849" r:id="rId2"/>
    <p:sldId id="256" r:id="rId3"/>
    <p:sldId id="260" r:id="rId4"/>
    <p:sldId id="272" r:id="rId5"/>
    <p:sldId id="262" r:id="rId6"/>
    <p:sldId id="273" r:id="rId7"/>
    <p:sldId id="505" r:id="rId8"/>
    <p:sldId id="405" r:id="rId9"/>
    <p:sldId id="407" r:id="rId10"/>
    <p:sldId id="520" r:id="rId11"/>
    <p:sldId id="812" r:id="rId12"/>
    <p:sldId id="494" r:id="rId13"/>
    <p:sldId id="508" r:id="rId14"/>
    <p:sldId id="510" r:id="rId15"/>
    <p:sldId id="511" r:id="rId16"/>
    <p:sldId id="497" r:id="rId17"/>
    <p:sldId id="513" r:id="rId18"/>
  </p:sldIdLst>
  <p:sldSz cx="9144000" cy="5143500" type="screen16x9"/>
  <p:notesSz cx="6858000" cy="9144000"/>
  <p:embeddedFontLst>
    <p:embeddedFont>
      <p:font typeface="Source Code Pro" panose="020B0309030403020204" pitchFamily="49" charset="0"/>
      <p:regular r:id="rId20"/>
      <p:bold r:id="rId21"/>
      <p:italic r:id="rId22"/>
      <p:boldItalic r:id="rId23"/>
    </p:embeddedFont>
    <p:embeddedFont>
      <p:font typeface="Source Code Pro Light" panose="020B0309030403020204" pitchFamily="49" charset="0"/>
      <p:regular r:id="rId24"/>
      <p:bold r:id="rId25"/>
      <p:italic r:id="rId26"/>
      <p:boldItalic r:id="rId27"/>
    </p:embeddedFont>
    <p:embeddedFont>
      <p:font typeface="Teko" panose="020B0604020202020204" charset="0"/>
      <p:regular r:id="rId28"/>
      <p:bold r:id="rId29"/>
    </p:embeddedFont>
    <p:embeddedFont>
      <p:font typeface="Teko Medium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F24"/>
    <a:srgbClr val="0BE500"/>
    <a:srgbClr val="66A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49" autoAdjust="0"/>
    <p:restoredTop sz="93792" autoAdjust="0"/>
  </p:normalViewPr>
  <p:slideViewPr>
    <p:cSldViewPr snapToGrid="0">
      <p:cViewPr varScale="1">
        <p:scale>
          <a:sx n="146" d="100"/>
          <a:sy n="146" d="100"/>
        </p:scale>
        <p:origin x="4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38fd4569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538fd4569b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8714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d5e29a64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9d5e29a64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848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538fd4569b_2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538fd4569b_2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5104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d5e29a6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d5e29a6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445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54159890e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54159890e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78660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d5e29a64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9d5e29a64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954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54159890e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54159890e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4626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g278be40c804_1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8" name="Google Shape;1758;g278be40c804_1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1632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d5e29a64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g29d5e29a64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422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538fd4569b_2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538fd4569b_2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956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67e0112670_2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67e0112670_2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080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25f82a7c33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25f82a7c33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385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25f82a7c33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25f82a7c33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3636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25f82a7c33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25f82a7c33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1323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25f82a7c33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25f82a7c33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8870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25f82a7c33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25f82a7c33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058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g25f82a7c336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3" name="Google Shape;2963;g25f82a7c336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78" name="Google Shape;178;p18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79" name="Google Shape;179;p18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18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83" name="Google Shape;183;p18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87" name="Google Shape;187;p18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18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91" name="Google Shape;191;p18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18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 b="0" i="0" u="none" strike="noStrike" cap="none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7459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6"/>
          <p:cNvGrpSpPr/>
          <p:nvPr/>
        </p:nvGrpSpPr>
        <p:grpSpPr>
          <a:xfrm>
            <a:off x="179802" y="164163"/>
            <a:ext cx="8784400" cy="4781833"/>
            <a:chOff x="179802" y="164163"/>
            <a:chExt cx="8784400" cy="4781833"/>
          </a:xfrm>
        </p:grpSpPr>
        <p:grpSp>
          <p:nvGrpSpPr>
            <p:cNvPr id="120" name="Google Shape;120;p16"/>
            <p:cNvGrpSpPr/>
            <p:nvPr/>
          </p:nvGrpSpPr>
          <p:grpSpPr>
            <a:xfrm>
              <a:off x="8735377" y="164163"/>
              <a:ext cx="228825" cy="228825"/>
              <a:chOff x="3023950" y="3689950"/>
              <a:chExt cx="316100" cy="3161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9012" fill="none" extrusionOk="0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644" fill="none" extrusionOk="0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644" h="1" fill="none" extrusionOk="0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4" name="Google Shape;124;p16"/>
            <p:cNvGrpSpPr/>
            <p:nvPr/>
          </p:nvGrpSpPr>
          <p:grpSpPr>
            <a:xfrm>
              <a:off x="179802" y="164163"/>
              <a:ext cx="228825" cy="228825"/>
              <a:chOff x="3023950" y="3689950"/>
              <a:chExt cx="316100" cy="316100"/>
            </a:xfrm>
          </p:grpSpPr>
          <p:sp>
            <p:nvSpPr>
              <p:cNvPr id="125" name="Google Shape;125;p1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9012" fill="none" extrusionOk="0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644" fill="none" extrusionOk="0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644" h="1" fill="none" extrusionOk="0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16"/>
            <p:cNvGrpSpPr/>
            <p:nvPr/>
          </p:nvGrpSpPr>
          <p:grpSpPr>
            <a:xfrm>
              <a:off x="179802" y="4717140"/>
              <a:ext cx="228825" cy="228856"/>
              <a:chOff x="3023950" y="3689950"/>
              <a:chExt cx="316100" cy="316100"/>
            </a:xfrm>
          </p:grpSpPr>
          <p:sp>
            <p:nvSpPr>
              <p:cNvPr id="129" name="Google Shape;129;p1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9012" fill="none" extrusionOk="0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644" fill="none" extrusionOk="0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2644" h="1" fill="none" extrusionOk="0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2" name="Google Shape;132;p16"/>
          <p:cNvGrpSpPr/>
          <p:nvPr/>
        </p:nvGrpSpPr>
        <p:grpSpPr>
          <a:xfrm>
            <a:off x="4672726" y="1652797"/>
            <a:ext cx="4108323" cy="3132997"/>
            <a:chOff x="5614975" y="2571738"/>
            <a:chExt cx="2725075" cy="2078412"/>
          </a:xfrm>
        </p:grpSpPr>
        <p:grpSp>
          <p:nvGrpSpPr>
            <p:cNvPr id="133" name="Google Shape;133;p16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34" name="Google Shape;134;p16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6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6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3" extrusionOk="0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6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71" extrusionOk="0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6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916" extrusionOk="0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6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16" extrusionOk="0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6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44" extrusionOk="0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6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16" extrusionOk="0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6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44" extrusionOk="0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6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16" extrusionOk="0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" name="Google Shape;146;p16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47" name="Google Shape;147;p16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6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445" extrusionOk="0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6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6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6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6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694" extrusionOk="0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6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6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77" extrusionOk="0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6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6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722" extrusionOk="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929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 hasCustomPrompt="1"/>
          </p:nvPr>
        </p:nvSpPr>
        <p:spPr>
          <a:xfrm>
            <a:off x="720000" y="1973100"/>
            <a:ext cx="7704000" cy="11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1176750" y="3528075"/>
            <a:ext cx="6790500" cy="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57" name="Google Shape;57;p1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" name="Google Shape;60;p14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61" name="Google Shape;61;p1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65" name="Google Shape;65;p1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69" name="Google Shape;69;p14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 b="0" i="0" u="none" strike="noStrike" cap="none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31264" y="-541271"/>
            <a:ext cx="9144000" cy="321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152400" y="-303934"/>
            <a:ext cx="9143946" cy="32131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12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5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77" name="Google Shape;77;p15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81" name="Google Shape;81;p15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245739" y="4669065"/>
            <a:ext cx="228825" cy="228856"/>
            <a:chOff x="3023950" y="3689950"/>
            <a:chExt cx="316100" cy="316100"/>
          </a:xfrm>
        </p:grpSpPr>
        <p:sp>
          <p:nvSpPr>
            <p:cNvPr id="85" name="Google Shape;85;p15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4672726" y="1648692"/>
            <a:ext cx="4108323" cy="3132997"/>
            <a:chOff x="5614975" y="2571738"/>
            <a:chExt cx="2725075" cy="2078412"/>
          </a:xfrm>
        </p:grpSpPr>
        <p:grpSp>
          <p:nvGrpSpPr>
            <p:cNvPr id="89" name="Google Shape;89;p15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90" name="Google Shape;90;p15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3" extrusionOk="0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71" extrusionOk="0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4" extrusionOk="0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417" h="916" extrusionOk="0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16" extrusionOk="0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44" extrusionOk="0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16" extrusionOk="0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944" extrusionOk="0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916" extrusionOk="0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" name="Google Shape;102;p15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971" h="445" extrusionOk="0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694" extrusionOk="0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22" extrusionOk="0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999" h="777" extrusionOk="0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694" extrusionOk="0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722" extrusionOk="0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722" extrusionOk="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4064725" y="1001700"/>
            <a:ext cx="1270200" cy="11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title" idx="2"/>
          </p:nvPr>
        </p:nvSpPr>
        <p:spPr>
          <a:xfrm>
            <a:off x="4064725" y="2285700"/>
            <a:ext cx="43593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ubTitle" idx="1"/>
          </p:nvPr>
        </p:nvSpPr>
        <p:spPr>
          <a:xfrm>
            <a:off x="4064725" y="3266100"/>
            <a:ext cx="43593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193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61" name="Google Shape;161;p17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65" name="Google Shape;165;p17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69" name="Google Shape;169;p17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7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73" name="Google Shape;173;p17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2775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2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15" name="Google Shape;215;p20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19" name="Google Shape;219;p20"/>
            <p:cNvSpPr/>
            <p:nvPr/>
          </p:nvSpPr>
          <p:spPr>
            <a:xfrm>
              <a:off x="3069000" y="3735000"/>
              <a:ext cx="225300" cy="225300"/>
            </a:xfrm>
            <a:custGeom>
              <a:avLst/>
              <a:gdLst/>
              <a:ahLst/>
              <a:cxnLst/>
              <a:rect l="l" t="t" r="r" b="b"/>
              <a:pathLst>
                <a:path w="9012" h="9012" fill="none" extrusionOk="0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3182000" y="3689950"/>
              <a:ext cx="25" cy="316100"/>
            </a:xfrm>
            <a:custGeom>
              <a:avLst/>
              <a:gdLst/>
              <a:ahLst/>
              <a:cxnLst/>
              <a:rect l="l" t="t" r="r" b="b"/>
              <a:pathLst>
                <a:path w="1" h="12644" fill="none" extrusionOk="0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3023950" y="3847975"/>
              <a:ext cx="316100" cy="25"/>
            </a:xfrm>
            <a:custGeom>
              <a:avLst/>
              <a:gdLst/>
              <a:ahLst/>
              <a:cxnLst/>
              <a:rect l="l" t="t" r="r" b="b"/>
              <a:pathLst>
                <a:path w="12644" h="1" fill="none" extrusionOk="0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277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547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52664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9.png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image" Target="../media/image18.png"/><Relationship Id="rId11" Type="http://schemas.openxmlformats.org/officeDocument/2006/relationships/image" Target="../media/image9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/>
        </p:nvSpPr>
        <p:spPr>
          <a:xfrm>
            <a:off x="1066800" y="1303020"/>
            <a:ext cx="7010400" cy="212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Teko"/>
              <a:buNone/>
              <a:tabLst/>
              <a:defRPr/>
            </a:pPr>
            <a:r>
              <a:rPr kumimoji="0" lang="en" sz="7200" b="1" i="0" u="none" strike="noStrike" kern="0" cap="none" spc="0" normalizeH="0" baseline="0" noProof="0" dirty="0">
                <a:ln>
                  <a:noFill/>
                </a:ln>
                <a:solidFill>
                  <a:srgbClr val="30323C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Section 0</a:t>
            </a:r>
            <a:r>
              <a:rPr kumimoji="0" lang="en-US" sz="7200" b="1" i="0" u="none" strike="noStrike" kern="0" cap="none" spc="0" normalizeH="0" baseline="0" noProof="0" dirty="0">
                <a:ln>
                  <a:noFill/>
                </a:ln>
                <a:solidFill>
                  <a:srgbClr val="30323C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1</a:t>
            </a:r>
            <a:endParaRPr kumimoji="0" sz="7200" b="1" i="0" u="none" strike="noStrike" kern="0" cap="none" spc="0" normalizeH="0" baseline="0" noProof="0" dirty="0">
              <a:ln>
                <a:noFill/>
              </a:ln>
              <a:solidFill>
                <a:srgbClr val="30323C"/>
              </a:solidFill>
              <a:effectLst/>
              <a:uLnTx/>
              <a:uFillTx/>
              <a:latin typeface="Teko"/>
              <a:ea typeface="Teko"/>
              <a:cs typeface="Teko"/>
              <a:sym typeface="Teko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30323C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Introduction</a:t>
            </a:r>
            <a:endParaRPr kumimoji="0" sz="7200" b="1" i="0" u="none" strike="noStrike" kern="0" cap="none" spc="0" normalizeH="0" baseline="0" noProof="0" dirty="0">
              <a:ln>
                <a:noFill/>
              </a:ln>
              <a:solidFill>
                <a:srgbClr val="30323C"/>
              </a:solidFill>
              <a:effectLst/>
              <a:uLnTx/>
              <a:uFillTx/>
              <a:latin typeface="Teko"/>
              <a:ea typeface="Teko"/>
              <a:cs typeface="Teko"/>
              <a:sym typeface="Teko"/>
            </a:endParaRPr>
          </a:p>
        </p:txBody>
      </p:sp>
    </p:spTree>
    <p:extLst>
      <p:ext uri="{BB962C8B-B14F-4D97-AF65-F5344CB8AC3E}">
        <p14:creationId xmlns:p14="http://schemas.microsoft.com/office/powerpoint/2010/main" val="402691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1330875" y="-1185248"/>
            <a:ext cx="6271324" cy="62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066800" y="1962150"/>
            <a:ext cx="7010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Teko"/>
              <a:buNone/>
              <a:tabLst/>
              <a:defRPr/>
            </a:pPr>
            <a:r>
              <a:rPr kumimoji="0" lang="en-US" sz="5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What Is A Data Lake? </a:t>
            </a:r>
          </a:p>
        </p:txBody>
      </p:sp>
    </p:spTree>
    <p:extLst>
      <p:ext uri="{BB962C8B-B14F-4D97-AF65-F5344CB8AC3E}">
        <p14:creationId xmlns:p14="http://schemas.microsoft.com/office/powerpoint/2010/main" val="57961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>
            <a:spLocks noGrp="1"/>
          </p:cNvSpPr>
          <p:nvPr>
            <p:ph type="title" idx="2"/>
          </p:nvPr>
        </p:nvSpPr>
        <p:spPr>
          <a:xfrm>
            <a:off x="838200" y="2112375"/>
            <a:ext cx="7772399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Introduction to Data Lake</a:t>
            </a:r>
            <a:endParaRPr dirty="0"/>
          </a:p>
        </p:txBody>
      </p:sp>
      <p:sp>
        <p:nvSpPr>
          <p:cNvPr id="248" name="Google Shape;248;p25"/>
          <p:cNvSpPr txBox="1">
            <a:spLocks noGrp="1"/>
          </p:cNvSpPr>
          <p:nvPr>
            <p:ph type="subTitle" idx="1"/>
          </p:nvPr>
        </p:nvSpPr>
        <p:spPr>
          <a:xfrm>
            <a:off x="926874" y="2911675"/>
            <a:ext cx="410232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/>
              <a:buChar char="•"/>
            </a:pPr>
            <a:r>
              <a:rPr lang="en-US" sz="1600" dirty="0"/>
              <a:t>Explore fundamental concept</a:t>
            </a:r>
            <a:endParaRPr dirty="0"/>
          </a:p>
        </p:txBody>
      </p:sp>
      <p:pic>
        <p:nvPicPr>
          <p:cNvPr id="249" name="Google Shape;2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91184">
            <a:off x="-568400" y="-379875"/>
            <a:ext cx="5388654" cy="3031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926874" y="3474253"/>
            <a:ext cx="693696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Foundation for modern data storage solutions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926874" y="4005988"/>
            <a:ext cx="529104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Crucial for mastering data engineering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776860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838200" y="-16875"/>
            <a:ext cx="3657600" cy="286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 txBox="1">
            <a:spLocks noGrp="1"/>
          </p:cNvSpPr>
          <p:nvPr>
            <p:ph type="title" idx="4294967295"/>
          </p:nvPr>
        </p:nvSpPr>
        <p:spPr>
          <a:xfrm>
            <a:off x="838200" y="616065"/>
            <a:ext cx="66711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 sz="3600" b="1" dirty="0"/>
              <a:t>What is a Data Lake?</a:t>
            </a:r>
            <a:endParaRPr sz="4400" b="1" dirty="0"/>
          </a:p>
        </p:txBody>
      </p:sp>
      <p:pic>
        <p:nvPicPr>
          <p:cNvPr id="245" name="Google Shape;245;p23"/>
          <p:cNvPicPr preferRelativeResize="0"/>
          <p:nvPr/>
        </p:nvPicPr>
        <p:blipFill>
          <a:blip r:embed="rId4">
            <a:alphaModFix amt="19000"/>
          </a:blip>
          <a:stretch>
            <a:fillRect/>
          </a:stretch>
        </p:blipFill>
        <p:spPr>
          <a:xfrm>
            <a:off x="6835139" y="-315425"/>
            <a:ext cx="2493585" cy="2493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43696A-A271-4011-89CB-55E8878AC1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07414" y="1797020"/>
            <a:ext cx="2402895" cy="240289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5284B29-4C01-4FB6-AA36-EBD705D402FE}"/>
              </a:ext>
            </a:extLst>
          </p:cNvPr>
          <p:cNvGrpSpPr/>
          <p:nvPr/>
        </p:nvGrpSpPr>
        <p:grpSpPr>
          <a:xfrm>
            <a:off x="3450864" y="2072524"/>
            <a:ext cx="5101453" cy="495295"/>
            <a:chOff x="4517688" y="2072524"/>
            <a:chExt cx="5101453" cy="495295"/>
          </a:xfrm>
        </p:grpSpPr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CB029A4E-DE8D-43BD-B69B-7EF9FEDD8E8D}"/>
                </a:ext>
              </a:extLst>
            </p:cNvPr>
            <p:cNvSpPr/>
            <p:nvPr/>
          </p:nvSpPr>
          <p:spPr>
            <a:xfrm>
              <a:off x="4517688" y="2178160"/>
              <a:ext cx="364066" cy="173995"/>
            </a:xfrm>
            <a:prstGeom prst="rightArrow">
              <a:avLst/>
            </a:prstGeom>
            <a:solidFill>
              <a:srgbClr val="66A5D6"/>
            </a:solidFill>
            <a:ln>
              <a:solidFill>
                <a:srgbClr val="66A5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Google Shape;242;p23">
              <a:extLst>
                <a:ext uri="{FF2B5EF4-FFF2-40B4-BE49-F238E27FC236}">
                  <a16:creationId xmlns:a16="http://schemas.microsoft.com/office/drawing/2014/main" id="{515A40D9-241F-46B8-A76C-88D01BA9510F}"/>
                </a:ext>
              </a:extLst>
            </p:cNvPr>
            <p:cNvSpPr txBox="1">
              <a:spLocks/>
            </p:cNvSpPr>
            <p:nvPr/>
          </p:nvSpPr>
          <p:spPr>
            <a:xfrm>
              <a:off x="4823044" y="2072524"/>
              <a:ext cx="4796097" cy="495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Code Pro Light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Vast and centralized repository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6ED7C8-A3B8-400F-9AC4-3C17F699A97C}"/>
              </a:ext>
            </a:extLst>
          </p:cNvPr>
          <p:cNvGrpSpPr/>
          <p:nvPr/>
        </p:nvGrpSpPr>
        <p:grpSpPr>
          <a:xfrm>
            <a:off x="3450864" y="2823328"/>
            <a:ext cx="4479649" cy="495295"/>
            <a:chOff x="4517688" y="2823328"/>
            <a:chExt cx="4479649" cy="495295"/>
          </a:xfrm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DCEABFED-EEE8-429F-800C-D73F9E22AFEE}"/>
                </a:ext>
              </a:extLst>
            </p:cNvPr>
            <p:cNvSpPr/>
            <p:nvPr/>
          </p:nvSpPr>
          <p:spPr>
            <a:xfrm>
              <a:off x="4517688" y="2935655"/>
              <a:ext cx="364066" cy="173995"/>
            </a:xfrm>
            <a:prstGeom prst="rightArrow">
              <a:avLst/>
            </a:prstGeom>
            <a:solidFill>
              <a:srgbClr val="66A5D6"/>
            </a:solidFill>
            <a:ln>
              <a:solidFill>
                <a:srgbClr val="66A5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8" name="Google Shape;242;p23">
              <a:extLst>
                <a:ext uri="{FF2B5EF4-FFF2-40B4-BE49-F238E27FC236}">
                  <a16:creationId xmlns:a16="http://schemas.microsoft.com/office/drawing/2014/main" id="{49BC241D-865D-4956-9FA0-83055AE1E03C}"/>
                </a:ext>
              </a:extLst>
            </p:cNvPr>
            <p:cNvSpPr txBox="1">
              <a:spLocks/>
            </p:cNvSpPr>
            <p:nvPr/>
          </p:nvSpPr>
          <p:spPr>
            <a:xfrm>
              <a:off x="4835607" y="2823328"/>
              <a:ext cx="4161730" cy="495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Code Pro Light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Stores </a:t>
              </a: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7AC4C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structured and unstructured data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ACF1BB4-3FAE-4E94-95BA-23B370B05A34}"/>
              </a:ext>
            </a:extLst>
          </p:cNvPr>
          <p:cNvGrpSpPr/>
          <p:nvPr/>
        </p:nvGrpSpPr>
        <p:grpSpPr>
          <a:xfrm>
            <a:off x="3450864" y="3623245"/>
            <a:ext cx="4479649" cy="495295"/>
            <a:chOff x="4517688" y="3623245"/>
            <a:chExt cx="4479649" cy="495295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244DF98A-63E2-4D33-93B5-3EDEA4C0CC0E}"/>
                </a:ext>
              </a:extLst>
            </p:cNvPr>
            <p:cNvSpPr/>
            <p:nvPr/>
          </p:nvSpPr>
          <p:spPr>
            <a:xfrm>
              <a:off x="4517688" y="3733790"/>
              <a:ext cx="364066" cy="173995"/>
            </a:xfrm>
            <a:prstGeom prst="rightArrow">
              <a:avLst/>
            </a:prstGeom>
            <a:solidFill>
              <a:srgbClr val="66A5D6"/>
            </a:solidFill>
            <a:ln>
              <a:solidFill>
                <a:srgbClr val="66A5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19" name="Google Shape;242;p23">
              <a:extLst>
                <a:ext uri="{FF2B5EF4-FFF2-40B4-BE49-F238E27FC236}">
                  <a16:creationId xmlns:a16="http://schemas.microsoft.com/office/drawing/2014/main" id="{5D4E62A6-3338-44D6-8AA4-EF8AB1F0006E}"/>
                </a:ext>
              </a:extLst>
            </p:cNvPr>
            <p:cNvSpPr txBox="1">
              <a:spLocks/>
            </p:cNvSpPr>
            <p:nvPr/>
          </p:nvSpPr>
          <p:spPr>
            <a:xfrm>
              <a:off x="4835607" y="3623245"/>
              <a:ext cx="4161730" cy="495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Code Pro Light"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Data stored in native format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6184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4;p23">
            <a:extLst>
              <a:ext uri="{FF2B5EF4-FFF2-40B4-BE49-F238E27FC236}">
                <a16:creationId xmlns:a16="http://schemas.microsoft.com/office/drawing/2014/main" id="{316D3C8B-3BDC-4E47-B26C-ADCEA073A52F}"/>
              </a:ext>
            </a:extLst>
          </p:cNvPr>
          <p:cNvSpPr txBox="1">
            <a:spLocks/>
          </p:cNvSpPr>
          <p:nvPr/>
        </p:nvSpPr>
        <p:spPr>
          <a:xfrm>
            <a:off x="358140" y="273165"/>
            <a:ext cx="442722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Teko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cs typeface="Teko"/>
                <a:sym typeface="Teko"/>
              </a:rPr>
              <a:t>Evolution of Data Lakes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ko"/>
              <a:cs typeface="Teko"/>
              <a:sym typeface="Teko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828BC8-7E62-485E-AE45-D4D2B49A5567}"/>
              </a:ext>
            </a:extLst>
          </p:cNvPr>
          <p:cNvGrpSpPr/>
          <p:nvPr/>
        </p:nvGrpSpPr>
        <p:grpSpPr>
          <a:xfrm>
            <a:off x="1645920" y="1402080"/>
            <a:ext cx="2339340" cy="2682240"/>
            <a:chOff x="1645920" y="1402080"/>
            <a:chExt cx="2339340" cy="268224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DD333FB-6D11-4BCB-963B-4218F2E4717A}"/>
                </a:ext>
              </a:extLst>
            </p:cNvPr>
            <p:cNvSpPr/>
            <p:nvPr/>
          </p:nvSpPr>
          <p:spPr>
            <a:xfrm>
              <a:off x="1645920" y="1402080"/>
              <a:ext cx="2339340" cy="268224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7EBAB32-011C-49CB-B174-ED0E76B6D3DB}"/>
                </a:ext>
              </a:extLst>
            </p:cNvPr>
            <p:cNvGrpSpPr/>
            <p:nvPr/>
          </p:nvGrpSpPr>
          <p:grpSpPr>
            <a:xfrm>
              <a:off x="2005504" y="1583630"/>
              <a:ext cx="1620172" cy="713800"/>
              <a:chOff x="1062067" y="1583630"/>
              <a:chExt cx="1620172" cy="713800"/>
            </a:xfrm>
          </p:grpSpPr>
          <p:sp>
            <p:nvSpPr>
              <p:cNvPr id="13" name="Google Shape;278;p24">
                <a:extLst>
                  <a:ext uri="{FF2B5EF4-FFF2-40B4-BE49-F238E27FC236}">
                    <a16:creationId xmlns:a16="http://schemas.microsoft.com/office/drawing/2014/main" id="{1A44E877-02D2-4DC4-80F7-C17D039E342E}"/>
                  </a:ext>
                </a:extLst>
              </p:cNvPr>
              <p:cNvSpPr/>
              <p:nvPr/>
            </p:nvSpPr>
            <p:spPr>
              <a:xfrm>
                <a:off x="1062067" y="1583630"/>
                <a:ext cx="1109633" cy="713800"/>
              </a:xfrm>
              <a:custGeom>
                <a:avLst/>
                <a:gdLst/>
                <a:ahLst/>
                <a:cxnLst/>
                <a:rect l="l" t="t" r="r" b="b"/>
                <a:pathLst>
                  <a:path w="37029" h="28552" extrusionOk="0">
                    <a:moveTo>
                      <a:pt x="0" y="1"/>
                    </a:moveTo>
                    <a:lnTo>
                      <a:pt x="0" y="28552"/>
                    </a:lnTo>
                    <a:lnTo>
                      <a:pt x="31826" y="28552"/>
                    </a:lnTo>
                    <a:lnTo>
                      <a:pt x="31826" y="5215"/>
                    </a:lnTo>
                    <a:lnTo>
                      <a:pt x="37029" y="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18287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4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7AC4C"/>
                    </a:solidFill>
                    <a:effectLst/>
                    <a:uLnTx/>
                    <a:uFillTx/>
                    <a:latin typeface="Teko" panose="020B0604020202020204" charset="0"/>
                    <a:ea typeface="Source Code Pro Light"/>
                    <a:cs typeface="Teko" panose="020B0604020202020204" charset="0"/>
                    <a:sym typeface="Source Code Pro Light"/>
                  </a:rPr>
                  <a:t>BIG</a:t>
                </a:r>
                <a:endParaRPr kumimoji="0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eko" panose="020B0604020202020204" charset="0"/>
                  <a:ea typeface="Source Code Pro Light"/>
                  <a:cs typeface="Teko" panose="020B0604020202020204" charset="0"/>
                  <a:sym typeface="Source Code Pro Light"/>
                </a:endParaRPr>
              </a:p>
            </p:txBody>
          </p:sp>
          <p:sp>
            <p:nvSpPr>
              <p:cNvPr id="14" name="Google Shape;278;p24">
                <a:extLst>
                  <a:ext uri="{FF2B5EF4-FFF2-40B4-BE49-F238E27FC236}">
                    <a16:creationId xmlns:a16="http://schemas.microsoft.com/office/drawing/2014/main" id="{8D0A669F-6A60-4030-926F-BE69EFDB3647}"/>
                  </a:ext>
                </a:extLst>
              </p:cNvPr>
              <p:cNvSpPr/>
              <p:nvPr/>
            </p:nvSpPr>
            <p:spPr>
              <a:xfrm>
                <a:off x="1900190" y="1826215"/>
                <a:ext cx="782049" cy="317968"/>
              </a:xfrm>
              <a:custGeom>
                <a:avLst/>
                <a:gdLst/>
                <a:ahLst/>
                <a:cxnLst/>
                <a:rect l="l" t="t" r="r" b="b"/>
                <a:pathLst>
                  <a:path w="37029" h="28552" extrusionOk="0">
                    <a:moveTo>
                      <a:pt x="0" y="1"/>
                    </a:moveTo>
                    <a:lnTo>
                      <a:pt x="0" y="28552"/>
                    </a:lnTo>
                    <a:lnTo>
                      <a:pt x="31826" y="28552"/>
                    </a:lnTo>
                    <a:lnTo>
                      <a:pt x="31826" y="5215"/>
                    </a:lnTo>
                    <a:lnTo>
                      <a:pt x="37029" y="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18287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eko" panose="020B0604020202020204" charset="0"/>
                    <a:ea typeface="Source Code Pro Light"/>
                    <a:cs typeface="Teko" panose="020B0604020202020204" charset="0"/>
                    <a:sym typeface="Source Code Pro Light"/>
                  </a:rPr>
                  <a:t>DATA</a:t>
                </a:r>
                <a:endPara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eko" panose="020B0604020202020204" charset="0"/>
                  <a:ea typeface="Source Code Pro Light"/>
                  <a:cs typeface="Teko" panose="020B0604020202020204" charset="0"/>
                  <a:sym typeface="Source Code Pro Light"/>
                </a:endParaRPr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A463E83-70C2-46AB-BE3B-9046DD1748E2}"/>
              </a:ext>
            </a:extLst>
          </p:cNvPr>
          <p:cNvSpPr txBox="1"/>
          <p:nvPr/>
        </p:nvSpPr>
        <p:spPr>
          <a:xfrm>
            <a:off x="1971448" y="2198345"/>
            <a:ext cx="1688283" cy="52322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Roger 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Magoulas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(2005)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225C7D-C0D6-4BF6-8D58-9AD3B3261558}"/>
              </a:ext>
            </a:extLst>
          </p:cNvPr>
          <p:cNvSpPr txBox="1"/>
          <p:nvPr/>
        </p:nvSpPr>
        <p:spPr>
          <a:xfrm>
            <a:off x="1733820" y="2872028"/>
            <a:ext cx="22196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Manage Large Data Volumes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SQL tools struggle to manage and analyze data.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3131AA-C4D1-4802-B36C-37F82C9D75C8}"/>
              </a:ext>
            </a:extLst>
          </p:cNvPr>
          <p:cNvGrpSpPr/>
          <p:nvPr/>
        </p:nvGrpSpPr>
        <p:grpSpPr>
          <a:xfrm>
            <a:off x="5158740" y="1402080"/>
            <a:ext cx="2339340" cy="2682240"/>
            <a:chOff x="5158740" y="1402080"/>
            <a:chExt cx="2339340" cy="26822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81B79F9-C90F-4233-8172-DDE3A37FEA15}"/>
                </a:ext>
              </a:extLst>
            </p:cNvPr>
            <p:cNvSpPr/>
            <p:nvPr/>
          </p:nvSpPr>
          <p:spPr>
            <a:xfrm>
              <a:off x="5158740" y="1402080"/>
              <a:ext cx="2339340" cy="2682240"/>
            </a:xfrm>
            <a:prstGeom prst="rect">
              <a:avLst/>
            </a:prstGeom>
            <a:noFill/>
            <a:ln>
              <a:solidFill>
                <a:schemeClr val="accent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sp>
          <p:nvSpPr>
            <p:cNvPr id="22" name="Google Shape;278;p24">
              <a:extLst>
                <a:ext uri="{FF2B5EF4-FFF2-40B4-BE49-F238E27FC236}">
                  <a16:creationId xmlns:a16="http://schemas.microsoft.com/office/drawing/2014/main" id="{870FFF62-6FE7-4482-8E46-1FC5F620A182}"/>
                </a:ext>
              </a:extLst>
            </p:cNvPr>
            <p:cNvSpPr/>
            <p:nvPr/>
          </p:nvSpPr>
          <p:spPr>
            <a:xfrm>
              <a:off x="5554981" y="1781546"/>
              <a:ext cx="1623059" cy="317968"/>
            </a:xfrm>
            <a:custGeom>
              <a:avLst/>
              <a:gdLst/>
              <a:ahLst/>
              <a:cxnLst/>
              <a:rect l="l" t="t" r="r" b="b"/>
              <a:pathLst>
                <a:path w="37029" h="28552" extrusionOk="0">
                  <a:moveTo>
                    <a:pt x="0" y="1"/>
                  </a:moveTo>
                  <a:lnTo>
                    <a:pt x="0" y="28552"/>
                  </a:lnTo>
                  <a:lnTo>
                    <a:pt x="31826" y="28552"/>
                  </a:lnTo>
                  <a:lnTo>
                    <a:pt x="31826" y="5215"/>
                  </a:lnTo>
                  <a:lnTo>
                    <a:pt x="37029" y="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18287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E7AC4C"/>
                  </a:solidFill>
                  <a:effectLst/>
                  <a:uLnTx/>
                  <a:uFillTx/>
                  <a:latin typeface="Teko" panose="020B0604020202020204" charset="0"/>
                  <a:ea typeface="Source Code Pro Light"/>
                  <a:cs typeface="Teko" panose="020B0604020202020204" charset="0"/>
                  <a:sym typeface="Source Code Pro Light"/>
                </a:rPr>
                <a:t>DATA LAKE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7AC4C"/>
                </a:solidFill>
                <a:effectLst/>
                <a:uLnTx/>
                <a:uFillTx/>
                <a:latin typeface="Teko" panose="020B0604020202020204" charset="0"/>
                <a:ea typeface="Source Code Pro Light"/>
                <a:cs typeface="Teko" panose="020B0604020202020204" charset="0"/>
                <a:sym typeface="Source Code Pro Light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B5A65F5-A5F3-483D-91B3-15D1EFB16C55}"/>
              </a:ext>
            </a:extLst>
          </p:cNvPr>
          <p:cNvSpPr txBox="1"/>
          <p:nvPr/>
        </p:nvSpPr>
        <p:spPr>
          <a:xfrm>
            <a:off x="5484269" y="2297430"/>
            <a:ext cx="1688283" cy="738664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James Dixon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CTO of Pentaho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(2010)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946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uiExpand="1" build="p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244;p23">
            <a:extLst>
              <a:ext uri="{FF2B5EF4-FFF2-40B4-BE49-F238E27FC236}">
                <a16:creationId xmlns:a16="http://schemas.microsoft.com/office/drawing/2014/main" id="{654AB7F3-6FCA-4548-B1B5-B64A3719CE26}"/>
              </a:ext>
            </a:extLst>
          </p:cNvPr>
          <p:cNvSpPr txBox="1">
            <a:spLocks/>
          </p:cNvSpPr>
          <p:nvPr/>
        </p:nvSpPr>
        <p:spPr>
          <a:xfrm>
            <a:off x="838200" y="715125"/>
            <a:ext cx="66711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Teko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cs typeface="Teko"/>
                <a:sym typeface="Teko"/>
              </a:rPr>
              <a:t>Data Sources for Data Lakes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F9920BA-CC00-4A33-A83B-CDE8F3D7AD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24" t="69421" r="29707"/>
          <a:stretch/>
        </p:blipFill>
        <p:spPr>
          <a:xfrm>
            <a:off x="2786673" y="3346476"/>
            <a:ext cx="3570654" cy="12268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CE82133-4E01-4A98-A73F-E15273A08E9A}"/>
              </a:ext>
            </a:extLst>
          </p:cNvPr>
          <p:cNvSpPr/>
          <p:nvPr/>
        </p:nvSpPr>
        <p:spPr>
          <a:xfrm>
            <a:off x="2713567" y="2968863"/>
            <a:ext cx="728133" cy="706966"/>
          </a:xfrm>
          <a:prstGeom prst="rect">
            <a:avLst/>
          </a:prstGeom>
          <a:solidFill>
            <a:srgbClr val="1E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AB7D1F-A48E-4999-8C96-EDD775DF4CF1}"/>
              </a:ext>
            </a:extLst>
          </p:cNvPr>
          <p:cNvSpPr/>
          <p:nvPr/>
        </p:nvSpPr>
        <p:spPr>
          <a:xfrm>
            <a:off x="5431367" y="3066228"/>
            <a:ext cx="1130300" cy="554567"/>
          </a:xfrm>
          <a:prstGeom prst="rect">
            <a:avLst/>
          </a:prstGeom>
          <a:solidFill>
            <a:srgbClr val="1E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D89ED0-449B-49CB-831B-30BC676785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450" t="25833" r="43010" b="31255"/>
          <a:stretch/>
        </p:blipFill>
        <p:spPr>
          <a:xfrm>
            <a:off x="3870325" y="1781835"/>
            <a:ext cx="1403350" cy="148801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B03BB72-9AAF-4706-B710-DFD099129A7F}"/>
              </a:ext>
            </a:extLst>
          </p:cNvPr>
          <p:cNvGrpSpPr/>
          <p:nvPr/>
        </p:nvGrpSpPr>
        <p:grpSpPr>
          <a:xfrm>
            <a:off x="1533871" y="2826940"/>
            <a:ext cx="1833588" cy="758824"/>
            <a:chOff x="1533871" y="2826940"/>
            <a:chExt cx="1833588" cy="75882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F2F0069-D3B5-43DC-9946-E5B82C27AA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904" t="56214" r="67182" b="21903"/>
            <a:stretch/>
          </p:blipFill>
          <p:spPr>
            <a:xfrm>
              <a:off x="2786673" y="2826940"/>
              <a:ext cx="580786" cy="758824"/>
            </a:xfrm>
            <a:prstGeom prst="rect">
              <a:avLst/>
            </a:prstGeom>
          </p:spPr>
        </p:pic>
        <p:sp>
          <p:nvSpPr>
            <p:cNvPr id="13" name="Google Shape;242;p23">
              <a:extLst>
                <a:ext uri="{FF2B5EF4-FFF2-40B4-BE49-F238E27FC236}">
                  <a16:creationId xmlns:a16="http://schemas.microsoft.com/office/drawing/2014/main" id="{10E44B95-5793-4745-AD34-31B6EFDEBB56}"/>
                </a:ext>
              </a:extLst>
            </p:cNvPr>
            <p:cNvSpPr txBox="1">
              <a:spLocks/>
            </p:cNvSpPr>
            <p:nvPr/>
          </p:nvSpPr>
          <p:spPr>
            <a:xfrm>
              <a:off x="1533871" y="2916796"/>
              <a:ext cx="1324450" cy="495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Code Pro Light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Data from sensors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3674454-278A-4A7C-ACC7-C576CEDF9831}"/>
              </a:ext>
            </a:extLst>
          </p:cNvPr>
          <p:cNvGrpSpPr/>
          <p:nvPr/>
        </p:nvGrpSpPr>
        <p:grpSpPr>
          <a:xfrm>
            <a:off x="5702300" y="2750422"/>
            <a:ext cx="2193646" cy="850900"/>
            <a:chOff x="5702300" y="2780902"/>
            <a:chExt cx="2193646" cy="8509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77DE972-F131-4B4F-B604-174018663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58257" t="53558" r="33127" b="21903"/>
            <a:stretch/>
          </p:blipFill>
          <p:spPr>
            <a:xfrm>
              <a:off x="5702300" y="2780902"/>
              <a:ext cx="561340" cy="850900"/>
            </a:xfrm>
            <a:prstGeom prst="rect">
              <a:avLst/>
            </a:prstGeom>
          </p:spPr>
        </p:pic>
        <p:sp>
          <p:nvSpPr>
            <p:cNvPr id="14" name="Google Shape;242;p23">
              <a:extLst>
                <a:ext uri="{FF2B5EF4-FFF2-40B4-BE49-F238E27FC236}">
                  <a16:creationId xmlns:a16="http://schemas.microsoft.com/office/drawing/2014/main" id="{DE5E96A1-7E4C-4F4B-B2B1-45EEAC7900F1}"/>
                </a:ext>
              </a:extLst>
            </p:cNvPr>
            <p:cNvSpPr txBox="1">
              <a:spLocks/>
            </p:cNvSpPr>
            <p:nvPr/>
          </p:nvSpPr>
          <p:spPr>
            <a:xfrm>
              <a:off x="6084637" y="2883356"/>
              <a:ext cx="1811309" cy="495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Code Pro Light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Data from other sources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3C02002-4279-4336-AB57-F2C37BE81BE1}"/>
              </a:ext>
            </a:extLst>
          </p:cNvPr>
          <p:cNvSpPr/>
          <p:nvPr/>
        </p:nvSpPr>
        <p:spPr>
          <a:xfrm>
            <a:off x="5622925" y="3516972"/>
            <a:ext cx="158750" cy="137583"/>
          </a:xfrm>
          <a:prstGeom prst="rect">
            <a:avLst/>
          </a:prstGeom>
          <a:solidFill>
            <a:srgbClr val="1E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259529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4;p23">
            <a:extLst>
              <a:ext uri="{FF2B5EF4-FFF2-40B4-BE49-F238E27FC236}">
                <a16:creationId xmlns:a16="http://schemas.microsoft.com/office/drawing/2014/main" id="{316D3C8B-3BDC-4E47-B26C-ADCEA073A52F}"/>
              </a:ext>
            </a:extLst>
          </p:cNvPr>
          <p:cNvSpPr txBox="1">
            <a:spLocks/>
          </p:cNvSpPr>
          <p:nvPr/>
        </p:nvSpPr>
        <p:spPr>
          <a:xfrm>
            <a:off x="358140" y="273165"/>
            <a:ext cx="664464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 b="0" i="0" u="none" strike="noStrike" cap="none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Teko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cs typeface="Teko"/>
                <a:sym typeface="Teko"/>
              </a:rPr>
              <a:t>Data Explosion Demands Flexibility</a:t>
            </a: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eko"/>
              <a:cs typeface="Teko"/>
              <a:sym typeface="Teko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515877-94E0-45FA-944B-B2DA8498B9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24" t="69421" r="29707"/>
          <a:stretch/>
        </p:blipFill>
        <p:spPr>
          <a:xfrm>
            <a:off x="2124856" y="2934995"/>
            <a:ext cx="4894287" cy="1681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29434E-25A4-4F9B-9B9A-081B3024304C}"/>
              </a:ext>
            </a:extLst>
          </p:cNvPr>
          <p:cNvSpPr/>
          <p:nvPr/>
        </p:nvSpPr>
        <p:spPr>
          <a:xfrm>
            <a:off x="2339340" y="2667000"/>
            <a:ext cx="640080" cy="723900"/>
          </a:xfrm>
          <a:prstGeom prst="rect">
            <a:avLst/>
          </a:prstGeom>
          <a:solidFill>
            <a:srgbClr val="1E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C3C9C2-CB3B-4628-8C3F-C6EA2AEE5551}"/>
              </a:ext>
            </a:extLst>
          </p:cNvPr>
          <p:cNvSpPr/>
          <p:nvPr/>
        </p:nvSpPr>
        <p:spPr>
          <a:xfrm>
            <a:off x="3680460" y="2857500"/>
            <a:ext cx="1577340" cy="381648"/>
          </a:xfrm>
          <a:prstGeom prst="rect">
            <a:avLst/>
          </a:prstGeom>
          <a:solidFill>
            <a:srgbClr val="1E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58538B-3131-4D14-90F5-C997F9F7CFF2}"/>
              </a:ext>
            </a:extLst>
          </p:cNvPr>
          <p:cNvSpPr/>
          <p:nvPr/>
        </p:nvSpPr>
        <p:spPr>
          <a:xfrm>
            <a:off x="5792323" y="2744170"/>
            <a:ext cx="1577340" cy="585769"/>
          </a:xfrm>
          <a:prstGeom prst="rect">
            <a:avLst/>
          </a:prstGeom>
          <a:solidFill>
            <a:srgbClr val="1E1F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385E27-74B6-4F8C-80E2-5C04BBD6D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720" y="3239148"/>
            <a:ext cx="354660" cy="4017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2888D8-0DE7-45DA-B358-B1964CBF1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228" y="3048324"/>
            <a:ext cx="354660" cy="4017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7A697E-4554-4E2D-BDB9-901982F3F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914" y="3038266"/>
            <a:ext cx="354660" cy="4017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848CB86-6656-4356-9657-D00CFA638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594" y="3048324"/>
            <a:ext cx="354660" cy="4017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5DC9840-1B80-4974-A772-B47356EA3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866" y="3189132"/>
            <a:ext cx="354660" cy="40176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D359DBB-C110-45C7-B04B-38657B85656F}"/>
              </a:ext>
            </a:extLst>
          </p:cNvPr>
          <p:cNvGrpSpPr/>
          <p:nvPr/>
        </p:nvGrpSpPr>
        <p:grpSpPr>
          <a:xfrm>
            <a:off x="1106718" y="1713210"/>
            <a:ext cx="6930564" cy="495295"/>
            <a:chOff x="472440" y="1464017"/>
            <a:chExt cx="6930564" cy="495295"/>
          </a:xfrm>
        </p:grpSpPr>
        <p:sp>
          <p:nvSpPr>
            <p:cNvPr id="26" name="Google Shape;242;p23">
              <a:extLst>
                <a:ext uri="{FF2B5EF4-FFF2-40B4-BE49-F238E27FC236}">
                  <a16:creationId xmlns:a16="http://schemas.microsoft.com/office/drawing/2014/main" id="{D5C8FBFA-FDF9-4E0D-8305-4313B7A9D283}"/>
                </a:ext>
              </a:extLst>
            </p:cNvPr>
            <p:cNvSpPr txBox="1">
              <a:spLocks/>
            </p:cNvSpPr>
            <p:nvPr/>
          </p:nvSpPr>
          <p:spPr>
            <a:xfrm>
              <a:off x="472440" y="1464017"/>
              <a:ext cx="1950720" cy="4952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Code Pro Light"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E7AC4C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James Dixon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endParaRPr>
            </a:p>
          </p:txBody>
        </p:sp>
        <p:sp>
          <p:nvSpPr>
            <p:cNvPr id="13" name="Google Shape;242;p23">
              <a:extLst>
                <a:ext uri="{FF2B5EF4-FFF2-40B4-BE49-F238E27FC236}">
                  <a16:creationId xmlns:a16="http://schemas.microsoft.com/office/drawing/2014/main" id="{C16EAF33-47EC-4A4E-A0BB-C8340FB0DA39}"/>
                </a:ext>
              </a:extLst>
            </p:cNvPr>
            <p:cNvSpPr txBox="1">
              <a:spLocks/>
            </p:cNvSpPr>
            <p:nvPr/>
          </p:nvSpPr>
          <p:spPr>
            <a:xfrm>
              <a:off x="1969944" y="1510791"/>
              <a:ext cx="5433060" cy="3712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Source Code Pro Light"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66A5D6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"Large body of water in a more natural state" 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6A5D6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692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Google Shape;1760;p170"/>
          <p:cNvPicPr preferRelativeResize="0"/>
          <p:nvPr/>
        </p:nvPicPr>
        <p:blipFill rotWithShape="1">
          <a:blip r:embed="rId4">
            <a:alphaModFix amt="44000"/>
          </a:blip>
          <a:srcRect r="29022"/>
          <a:stretch/>
        </p:blipFill>
        <p:spPr>
          <a:xfrm>
            <a:off x="4967950" y="-304800"/>
            <a:ext cx="2111514" cy="1673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70"/>
          <p:cNvSpPr txBox="1"/>
          <p:nvPr/>
        </p:nvSpPr>
        <p:spPr>
          <a:xfrm>
            <a:off x="564474" y="379300"/>
            <a:ext cx="6852325" cy="8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FFFFFF"/>
              </a:buClr>
              <a:buSzPts val="1800"/>
              <a:buFont typeface="Source Code Pro Light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cs typeface="Teko"/>
                <a:sym typeface="Teko Medium"/>
              </a:rPr>
              <a:t>Comparison with Data Warehouse</a:t>
            </a:r>
          </a:p>
        </p:txBody>
      </p:sp>
      <p:sp>
        <p:nvSpPr>
          <p:cNvPr id="1762" name="Google Shape;1762;p170"/>
          <p:cNvSpPr txBox="1">
            <a:spLocks noGrp="1"/>
          </p:cNvSpPr>
          <p:nvPr>
            <p:ph type="subTitle" idx="4294967295"/>
          </p:nvPr>
        </p:nvSpPr>
        <p:spPr>
          <a:xfrm>
            <a:off x="1252920" y="1441100"/>
            <a:ext cx="597846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</a:pPr>
            <a:r>
              <a:rPr lang="en-US" sz="1400" dirty="0"/>
              <a:t>Data lakes represent a paradigm shift.</a:t>
            </a:r>
            <a:endParaRPr sz="1400" b="1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63" name="Google Shape;1763;p170"/>
          <p:cNvSpPr txBox="1">
            <a:spLocks noGrp="1"/>
          </p:cNvSpPr>
          <p:nvPr>
            <p:ph type="subTitle" idx="4294967295"/>
          </p:nvPr>
        </p:nvSpPr>
        <p:spPr>
          <a:xfrm>
            <a:off x="1252919" y="2770896"/>
            <a:ext cx="5978459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SzPts val="1400"/>
              <a:buFont typeface="Source Code Pro"/>
              <a:buChar char="●"/>
            </a:pPr>
            <a:r>
              <a:rPr lang="en-US" sz="1400" dirty="0"/>
              <a:t>Designed for the age of massive and diverse data.</a:t>
            </a:r>
            <a:endParaRPr sz="1400" dirty="0"/>
          </a:p>
        </p:txBody>
      </p:sp>
      <p:sp>
        <p:nvSpPr>
          <p:cNvPr id="1765" name="Google Shape;1765;p170"/>
          <p:cNvSpPr/>
          <p:nvPr/>
        </p:nvSpPr>
        <p:spPr>
          <a:xfrm flipH="1">
            <a:off x="3990636" y="3610646"/>
            <a:ext cx="5648558" cy="927300"/>
          </a:xfrm>
          <a:prstGeom prst="parallelogram">
            <a:avLst>
              <a:gd name="adj" fmla="val 25000"/>
            </a:avLst>
          </a:prstGeom>
          <a:noFill/>
          <a:ln w="38100">
            <a:solidFill>
              <a:schemeClr val="bg2"/>
            </a:solidFill>
            <a:prstDash val="sysDot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900" b="1" i="0" u="none" strike="noStrike" kern="0" cap="none" spc="0" normalizeH="0" baseline="0" noProof="0" dirty="0">
                <a:ln>
                  <a:noFill/>
                </a:ln>
                <a:solidFill>
                  <a:srgbClr val="E7AC4C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Upcoming Lecture: </a:t>
            </a:r>
            <a:r>
              <a:rPr kumimoji="0" 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Dives into the advantages of leveraging data lakes.</a:t>
            </a:r>
          </a:p>
        </p:txBody>
      </p:sp>
      <p:sp>
        <p:nvSpPr>
          <p:cNvPr id="7" name="Google Shape;1762;p170">
            <a:extLst>
              <a:ext uri="{FF2B5EF4-FFF2-40B4-BE49-F238E27FC236}">
                <a16:creationId xmlns:a16="http://schemas.microsoft.com/office/drawing/2014/main" id="{6BC596B5-1EBE-40B0-979B-40EF91B4E91C}"/>
              </a:ext>
            </a:extLst>
          </p:cNvPr>
          <p:cNvSpPr txBox="1">
            <a:spLocks/>
          </p:cNvSpPr>
          <p:nvPr/>
        </p:nvSpPr>
        <p:spPr>
          <a:xfrm>
            <a:off x="1252918" y="2105998"/>
            <a:ext cx="6519481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Code Pro Light"/>
              <a:buChar char="●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Departure from the rigid structure of a data warehouse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E7AC4C"/>
              </a:solidFill>
              <a:effectLst/>
              <a:uLnTx/>
              <a:uFillTx/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066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1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>
          <a:blip r:embed="rId3">
            <a:alphaModFix amt="33000"/>
          </a:blip>
          <a:stretch>
            <a:fillRect/>
          </a:stretch>
        </p:blipFill>
        <p:spPr>
          <a:xfrm>
            <a:off x="1330875" y="-1185248"/>
            <a:ext cx="6271324" cy="62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066800" y="1962150"/>
            <a:ext cx="7010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Teko"/>
              <a:buNone/>
              <a:tabLst/>
              <a:defRPr/>
            </a:pPr>
            <a:r>
              <a:rPr kumimoji="0" lang="en-US" sz="5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ko"/>
                <a:ea typeface="Teko"/>
                <a:cs typeface="Teko"/>
                <a:sym typeface="Teko"/>
              </a:rPr>
              <a:t>Why Use A Data Lake?</a:t>
            </a:r>
          </a:p>
        </p:txBody>
      </p:sp>
    </p:spTree>
    <p:extLst>
      <p:ext uri="{BB962C8B-B14F-4D97-AF65-F5344CB8AC3E}">
        <p14:creationId xmlns:p14="http://schemas.microsoft.com/office/powerpoint/2010/main" val="2717504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4056">
        <p14:reveal/>
      </p:transition>
    </mc:Choice>
    <mc:Fallback xmlns="">
      <p:transition spd="slow" advTm="4056">
        <p:fade/>
      </p:transition>
    </mc:Fallback>
  </mc:AlternateContent>
  <p:extLst>
    <p:ext uri="{E180D4A7-C9FB-4DFB-919C-405C955672EB}">
      <p14:showEvtLst xmlns:p14="http://schemas.microsoft.com/office/powerpoint/2010/main">
        <p14:playEvt time="2" objId="2"/>
      </p14:showEvt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>
            <a:spLocks noGrp="1"/>
          </p:cNvSpPr>
          <p:nvPr>
            <p:ph type="title" idx="2"/>
          </p:nvPr>
        </p:nvSpPr>
        <p:spPr>
          <a:xfrm>
            <a:off x="838200" y="2112375"/>
            <a:ext cx="7772399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Evolutionary Response to Big Data</a:t>
            </a:r>
          </a:p>
        </p:txBody>
      </p:sp>
      <p:sp>
        <p:nvSpPr>
          <p:cNvPr id="248" name="Google Shape;248;p25"/>
          <p:cNvSpPr txBox="1">
            <a:spLocks noGrp="1"/>
          </p:cNvSpPr>
          <p:nvPr>
            <p:ph type="subTitle" idx="1"/>
          </p:nvPr>
        </p:nvSpPr>
        <p:spPr>
          <a:xfrm>
            <a:off x="926874" y="2911675"/>
            <a:ext cx="7683725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/>
              <a:buChar char="•"/>
            </a:pPr>
            <a:r>
              <a:rPr lang="en-US" dirty="0"/>
              <a:t>Data lakes evolved in response to the big data explosion.</a:t>
            </a:r>
            <a:endParaRPr sz="1200" dirty="0"/>
          </a:p>
        </p:txBody>
      </p:sp>
      <p:pic>
        <p:nvPicPr>
          <p:cNvPr id="249" name="Google Shape;24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91184">
            <a:off x="-568400" y="-379875"/>
            <a:ext cx="5388654" cy="30311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5"/>
          <p:cNvSpPr txBox="1"/>
          <p:nvPr/>
        </p:nvSpPr>
        <p:spPr>
          <a:xfrm>
            <a:off x="926874" y="3474253"/>
            <a:ext cx="784374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Stored semi-structured, unstructured, and structured data.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926874" y="4005988"/>
            <a:ext cx="529104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cs typeface="Source Code Pro Light"/>
                <a:sym typeface="Source Code Pro Light"/>
              </a:rPr>
              <a:t>Served as a flexible repository 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310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Tm="21099">
        <p14:warp dir="in"/>
      </p:transition>
    </mc:Choice>
    <mc:Fallback xmlns="">
      <p:transition spd="slow" advTm="2109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9"/>
          <p:cNvSpPr/>
          <p:nvPr/>
        </p:nvSpPr>
        <p:spPr>
          <a:xfrm>
            <a:off x="838200" y="-16875"/>
            <a:ext cx="3657600" cy="286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9"/>
          <p:cNvSpPr txBox="1">
            <a:spLocks noGrp="1"/>
          </p:cNvSpPr>
          <p:nvPr>
            <p:ph type="title" idx="4294967295"/>
          </p:nvPr>
        </p:nvSpPr>
        <p:spPr>
          <a:xfrm>
            <a:off x="838200" y="715125"/>
            <a:ext cx="67458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3600" b="1" dirty="0">
                <a:solidFill>
                  <a:schemeClr val="accent3"/>
                </a:solidFill>
              </a:rPr>
              <a:t> Benefits of a Data Lake</a:t>
            </a:r>
            <a:endParaRPr lang="en-US" sz="4400" b="1" dirty="0">
              <a:solidFill>
                <a:schemeClr val="accent3"/>
              </a:solidFill>
            </a:endParaRPr>
          </a:p>
        </p:txBody>
      </p:sp>
      <p:pic>
        <p:nvPicPr>
          <p:cNvPr id="13" name="Google Shape;775;p61">
            <a:extLst>
              <a:ext uri="{FF2B5EF4-FFF2-40B4-BE49-F238E27FC236}">
                <a16:creationId xmlns:a16="http://schemas.microsoft.com/office/drawing/2014/main" id="{C9BF8586-FC1F-4488-B39C-ABEF6331514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041315">
            <a:off x="7054672" y="125979"/>
            <a:ext cx="2502256" cy="14075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8;p25">
            <a:extLst>
              <a:ext uri="{FF2B5EF4-FFF2-40B4-BE49-F238E27FC236}">
                <a16:creationId xmlns:a16="http://schemas.microsoft.com/office/drawing/2014/main" id="{92AF021F-E9A6-4792-8604-9A07169C8FB6}"/>
              </a:ext>
            </a:extLst>
          </p:cNvPr>
          <p:cNvSpPr txBox="1">
            <a:spLocks/>
          </p:cNvSpPr>
          <p:nvPr/>
        </p:nvSpPr>
        <p:spPr>
          <a:xfrm>
            <a:off x="653712" y="1411321"/>
            <a:ext cx="4649808" cy="246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None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4572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800"/>
              <a:buFont typeface="Arial"/>
              <a:buChar char="•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They provide: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Centralized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Flexible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Scalable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Cost Effective</a:t>
            </a:r>
          </a:p>
          <a:p>
            <a:pPr marL="1143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FFFFFF"/>
              </a:buClr>
              <a:buSzPts val="1800"/>
              <a:buFont typeface="Source Code Pro Light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E7AC4C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Solution to store and analyze huge amounts of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1928CE-4333-4358-A289-893B501595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141721" y="1965225"/>
            <a:ext cx="1851354" cy="18513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84131988"/>
      </p:ext>
    </p:extLst>
  </p:cSld>
  <p:clrMapOvr>
    <a:masterClrMapping/>
  </p:clrMapOvr>
  <p:transition spd="slow" advTm="1663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5" name="Google Shape;2965;p259"/>
          <p:cNvPicPr preferRelativeResize="0"/>
          <p:nvPr/>
        </p:nvPicPr>
        <p:blipFill rotWithShape="1">
          <a:blip r:embed="rId3">
            <a:alphaModFix amt="31000"/>
          </a:blip>
          <a:srcRect b="6191"/>
          <a:stretch/>
        </p:blipFill>
        <p:spPr>
          <a:xfrm rot="7944876">
            <a:off x="-363539" y="-786526"/>
            <a:ext cx="2432584" cy="2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6" name="Google Shape;2966;p259"/>
          <p:cNvSpPr txBox="1">
            <a:spLocks noGrp="1"/>
          </p:cNvSpPr>
          <p:nvPr>
            <p:ph type="title" idx="4294967295"/>
          </p:nvPr>
        </p:nvSpPr>
        <p:spPr>
          <a:xfrm>
            <a:off x="955700" y="344130"/>
            <a:ext cx="648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3600" b="1" dirty="0">
                <a:solidFill>
                  <a:schemeClr val="bg1"/>
                </a:solidFill>
                <a:sym typeface="Arial"/>
              </a:rPr>
              <a:t>Centralization &amp; </a:t>
            </a:r>
            <a:r>
              <a:rPr lang="en-US" sz="3600" b="1" dirty="0" err="1">
                <a:solidFill>
                  <a:schemeClr val="bg1"/>
                </a:solidFill>
                <a:sym typeface="Arial"/>
              </a:rPr>
              <a:t>Accessiblity</a:t>
            </a:r>
            <a:endParaRPr lang="en-US" sz="3600" b="1" dirty="0">
              <a:solidFill>
                <a:schemeClr val="bg1"/>
              </a:solidFill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0A717-A3E0-41D1-A58A-640B04F91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1" y="903398"/>
            <a:ext cx="2237080" cy="2237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037A14-240A-4B9F-AF67-E975D9A8857B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5763334" y="1697335"/>
            <a:ext cx="263220" cy="2981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22CFDA-DA02-473B-AB16-A303C88F5818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5894944" y="2478347"/>
            <a:ext cx="263220" cy="298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5A184E-CBDA-43FE-9BEA-FF9E0375E68A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6523925" y="2991388"/>
            <a:ext cx="263220" cy="29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07756"/>
      </p:ext>
    </p:extLst>
  </p:cSld>
  <p:clrMapOvr>
    <a:masterClrMapping/>
  </p:clrMapOvr>
  <p:transition spd="slow" advTm="29339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5" name="Google Shape;2965;p259"/>
          <p:cNvPicPr preferRelativeResize="0"/>
          <p:nvPr/>
        </p:nvPicPr>
        <p:blipFill rotWithShape="1">
          <a:blip r:embed="rId4">
            <a:alphaModFix amt="31000"/>
          </a:blip>
          <a:srcRect b="6191"/>
          <a:stretch/>
        </p:blipFill>
        <p:spPr>
          <a:xfrm rot="7944876">
            <a:off x="-363539" y="-786526"/>
            <a:ext cx="2432584" cy="2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6" name="Google Shape;2966;p259"/>
          <p:cNvSpPr txBox="1">
            <a:spLocks noGrp="1"/>
          </p:cNvSpPr>
          <p:nvPr>
            <p:ph type="title" idx="4294967295"/>
          </p:nvPr>
        </p:nvSpPr>
        <p:spPr>
          <a:xfrm>
            <a:off x="955700" y="344130"/>
            <a:ext cx="648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3600" b="1" dirty="0">
                <a:solidFill>
                  <a:schemeClr val="bg1"/>
                </a:solidFill>
                <a:sym typeface="Arial"/>
              </a:rPr>
              <a:t>Centralization &amp; </a:t>
            </a:r>
            <a:r>
              <a:rPr lang="en-US" sz="3600" b="1" dirty="0" err="1">
                <a:solidFill>
                  <a:schemeClr val="bg1"/>
                </a:solidFill>
                <a:sym typeface="Arial"/>
              </a:rPr>
              <a:t>Accessiblity</a:t>
            </a:r>
            <a:endParaRPr lang="en-US" sz="3600" b="1" dirty="0">
              <a:solidFill>
                <a:schemeClr val="bg1"/>
              </a:solidFill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0A717-A3E0-41D1-A58A-640B04F91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1" y="903398"/>
            <a:ext cx="2237080" cy="2237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037A14-240A-4B9F-AF67-E975D9A8857B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6474065" y="1653018"/>
            <a:ext cx="263220" cy="2981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22CFDA-DA02-473B-AB16-A303C88F5818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6477001" y="2341187"/>
            <a:ext cx="263220" cy="298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5A184E-CBDA-43FE-9BEA-FF9E0375E68A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50000"/>
          </a:blip>
          <a:stretch>
            <a:fillRect/>
          </a:stretch>
        </p:blipFill>
        <p:spPr>
          <a:xfrm>
            <a:off x="6866825" y="2753666"/>
            <a:ext cx="263220" cy="29817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402064C-A473-45C1-8E5D-7C17BECF9E5A}"/>
              </a:ext>
            </a:extLst>
          </p:cNvPr>
          <p:cNvGrpSpPr/>
          <p:nvPr/>
        </p:nvGrpSpPr>
        <p:grpSpPr>
          <a:xfrm>
            <a:off x="852753" y="1446418"/>
            <a:ext cx="4191000" cy="1571394"/>
            <a:chOff x="955700" y="2511176"/>
            <a:chExt cx="4191000" cy="157139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20B6B7C-1B6C-45D9-9534-E85258469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5700" y="2639366"/>
              <a:ext cx="4191000" cy="1443204"/>
            </a:xfrm>
            <a:prstGeom prst="rect">
              <a:avLst/>
            </a:prstGeom>
          </p:spPr>
        </p:pic>
        <p:sp>
          <p:nvSpPr>
            <p:cNvPr id="8" name="Google Shape;2967;p259">
              <a:extLst>
                <a:ext uri="{FF2B5EF4-FFF2-40B4-BE49-F238E27FC236}">
                  <a16:creationId xmlns:a16="http://schemas.microsoft.com/office/drawing/2014/main" id="{E54A1C9E-5DE9-4D1E-9BB3-BB05DC0404A1}"/>
                </a:ext>
              </a:extLst>
            </p:cNvPr>
            <p:cNvSpPr txBox="1">
              <a:spLocks/>
            </p:cNvSpPr>
            <p:nvPr/>
          </p:nvSpPr>
          <p:spPr>
            <a:xfrm>
              <a:off x="1388483" y="2511176"/>
              <a:ext cx="3325433" cy="410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Source Code Pro Light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Data lake centralizes data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3AFCC1A-4583-4DE9-9A3E-9B4DBF420F59}"/>
              </a:ext>
            </a:extLst>
          </p:cNvPr>
          <p:cNvGrpSpPr/>
          <p:nvPr/>
        </p:nvGrpSpPr>
        <p:grpSpPr>
          <a:xfrm>
            <a:off x="2634831" y="3660006"/>
            <a:ext cx="3874337" cy="869964"/>
            <a:chOff x="708842" y="3679176"/>
            <a:chExt cx="3874337" cy="869964"/>
          </a:xfrm>
        </p:grpSpPr>
        <p:sp>
          <p:nvSpPr>
            <p:cNvPr id="18" name="Google Shape;2967;p259">
              <a:extLst>
                <a:ext uri="{FF2B5EF4-FFF2-40B4-BE49-F238E27FC236}">
                  <a16:creationId xmlns:a16="http://schemas.microsoft.com/office/drawing/2014/main" id="{8A7983DE-FCA7-4F61-A72C-6EC305F29B7A}"/>
                </a:ext>
              </a:extLst>
            </p:cNvPr>
            <p:cNvSpPr txBox="1">
              <a:spLocks/>
            </p:cNvSpPr>
            <p:nvPr/>
          </p:nvSpPr>
          <p:spPr>
            <a:xfrm>
              <a:off x="708842" y="3788017"/>
              <a:ext cx="3211396" cy="3996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Source Code Pro Light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Democratizes data access within organizations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7CC4C0D-44B6-464C-BCA2-9ACFA6410B2A}"/>
                </a:ext>
              </a:extLst>
            </p:cNvPr>
            <p:cNvSpPr/>
            <p:nvPr/>
          </p:nvSpPr>
          <p:spPr>
            <a:xfrm>
              <a:off x="838383" y="3679176"/>
              <a:ext cx="3744796" cy="869964"/>
            </a:xfrm>
            <a:prstGeom prst="roundRect">
              <a:avLst/>
            </a:prstGeom>
            <a:noFill/>
            <a:ln w="22225" cap="flat" cmpd="sng">
              <a:solidFill>
                <a:schemeClr val="accent3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9A6288-8A4F-4D2F-A7A1-1671708AA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3565" y="3702647"/>
              <a:ext cx="752425" cy="752425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26623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3492">
        <p159:morph option="byObject"/>
      </p:transition>
    </mc:Choice>
    <mc:Fallback xmlns="">
      <p:transition spd="slow" advTm="2349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5" name="Google Shape;2965;p259"/>
          <p:cNvPicPr preferRelativeResize="0"/>
          <p:nvPr/>
        </p:nvPicPr>
        <p:blipFill rotWithShape="1">
          <a:blip r:embed="rId4">
            <a:alphaModFix amt="31000"/>
          </a:blip>
          <a:srcRect b="6191"/>
          <a:stretch/>
        </p:blipFill>
        <p:spPr>
          <a:xfrm rot="7944876">
            <a:off x="-363539" y="-786526"/>
            <a:ext cx="2432584" cy="2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6" name="Google Shape;2966;p259"/>
          <p:cNvSpPr txBox="1">
            <a:spLocks noGrp="1"/>
          </p:cNvSpPr>
          <p:nvPr>
            <p:ph type="title" idx="4294967295"/>
          </p:nvPr>
        </p:nvSpPr>
        <p:spPr>
          <a:xfrm>
            <a:off x="955700" y="344130"/>
            <a:ext cx="648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3600" b="1" dirty="0">
                <a:solidFill>
                  <a:schemeClr val="bg1"/>
                </a:solidFill>
                <a:sym typeface="Arial"/>
              </a:rPr>
              <a:t>Scalability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0A717-A3E0-41D1-A58A-640B04F91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460" y="992908"/>
            <a:ext cx="2237080" cy="22370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67F031-3C61-4FC8-A3A6-949B5DBA7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2398" y="1788698"/>
            <a:ext cx="801320" cy="801320"/>
          </a:xfrm>
          <a:prstGeom prst="rect">
            <a:avLst/>
          </a:prstGeom>
        </p:spPr>
      </p:pic>
      <p:sp>
        <p:nvSpPr>
          <p:cNvPr id="14" name="Google Shape;2967;p259">
            <a:extLst>
              <a:ext uri="{FF2B5EF4-FFF2-40B4-BE49-F238E27FC236}">
                <a16:creationId xmlns:a16="http://schemas.microsoft.com/office/drawing/2014/main" id="{18578D14-CEC2-4EEA-8F72-C63FFE3390FB}"/>
              </a:ext>
            </a:extLst>
          </p:cNvPr>
          <p:cNvSpPr txBox="1">
            <a:spLocks/>
          </p:cNvSpPr>
          <p:nvPr/>
        </p:nvSpPr>
        <p:spPr>
          <a:xfrm>
            <a:off x="908956" y="2571750"/>
            <a:ext cx="1968204" cy="41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Source Code Pro Light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Product Catalog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253C6F-059D-4278-A10C-7CC1882544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161" y="1788699"/>
            <a:ext cx="801320" cy="801320"/>
          </a:xfrm>
          <a:prstGeom prst="rect">
            <a:avLst/>
          </a:prstGeom>
        </p:spPr>
      </p:pic>
      <p:sp>
        <p:nvSpPr>
          <p:cNvPr id="15" name="Google Shape;2967;p259">
            <a:extLst>
              <a:ext uri="{FF2B5EF4-FFF2-40B4-BE49-F238E27FC236}">
                <a16:creationId xmlns:a16="http://schemas.microsoft.com/office/drawing/2014/main" id="{5E78C50F-F698-42E2-BEB5-6DC375CE0ED1}"/>
              </a:ext>
            </a:extLst>
          </p:cNvPr>
          <p:cNvSpPr txBox="1">
            <a:spLocks/>
          </p:cNvSpPr>
          <p:nvPr/>
        </p:nvSpPr>
        <p:spPr>
          <a:xfrm>
            <a:off x="6266840" y="2590018"/>
            <a:ext cx="2147962" cy="41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Source Code Pro Light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Growing Customer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98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13001">
        <p14:flythrough/>
      </p:transition>
    </mc:Choice>
    <mc:Fallback xmlns="">
      <p:transition spd="slow" advTm="1300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5" name="Google Shape;2965;p259"/>
          <p:cNvPicPr preferRelativeResize="0"/>
          <p:nvPr/>
        </p:nvPicPr>
        <p:blipFill rotWithShape="1">
          <a:blip r:embed="rId3">
            <a:alphaModFix amt="31000"/>
          </a:blip>
          <a:srcRect b="6191"/>
          <a:stretch/>
        </p:blipFill>
        <p:spPr>
          <a:xfrm rot="7944876">
            <a:off x="-363539" y="-786526"/>
            <a:ext cx="2432584" cy="2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6" name="Google Shape;2966;p259"/>
          <p:cNvSpPr txBox="1">
            <a:spLocks noGrp="1"/>
          </p:cNvSpPr>
          <p:nvPr>
            <p:ph type="title" idx="4294967295"/>
          </p:nvPr>
        </p:nvSpPr>
        <p:spPr>
          <a:xfrm>
            <a:off x="955700" y="344130"/>
            <a:ext cx="64890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3600" b="1" dirty="0">
                <a:solidFill>
                  <a:schemeClr val="bg1"/>
                </a:solidFill>
                <a:sym typeface="Arial"/>
              </a:rPr>
              <a:t>Scalability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20A717-A3E0-41D1-A58A-640B04F91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460" y="992908"/>
            <a:ext cx="2237080" cy="22370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67F031-3C61-4FC8-A3A6-949B5DBA7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302" y="1948279"/>
            <a:ext cx="482158" cy="4821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253C6F-059D-4278-A10C-7CC1882544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283" y="1948280"/>
            <a:ext cx="482158" cy="482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D3CC03-E6AD-4E1A-B753-E39D5100B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717" y="1209139"/>
            <a:ext cx="482158" cy="4821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441A91-171C-4213-863A-35C577FF6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717" y="2805968"/>
            <a:ext cx="482158" cy="482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BFE494-02C2-47AE-93F9-B43E88B156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461" y="1209139"/>
            <a:ext cx="482158" cy="482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73B88F-551F-450E-BF21-416D721078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461" y="2805968"/>
            <a:ext cx="482158" cy="48215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394AE36-27C2-4C1E-BC29-EF3A8CBCFF50}"/>
              </a:ext>
            </a:extLst>
          </p:cNvPr>
          <p:cNvGrpSpPr/>
          <p:nvPr/>
        </p:nvGrpSpPr>
        <p:grpSpPr>
          <a:xfrm>
            <a:off x="2613660" y="3341643"/>
            <a:ext cx="6442709" cy="1463039"/>
            <a:chOff x="2263140" y="3474720"/>
            <a:chExt cx="6442709" cy="146303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23DE99-E841-4002-84C3-C011C1BF1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42810" y="3474720"/>
              <a:ext cx="1463039" cy="1463039"/>
            </a:xfrm>
            <a:prstGeom prst="rect">
              <a:avLst/>
            </a:prstGeom>
          </p:spPr>
        </p:pic>
        <p:sp>
          <p:nvSpPr>
            <p:cNvPr id="16" name="Google Shape;2967;p259">
              <a:extLst>
                <a:ext uri="{FF2B5EF4-FFF2-40B4-BE49-F238E27FC236}">
                  <a16:creationId xmlns:a16="http://schemas.microsoft.com/office/drawing/2014/main" id="{5E435451-5B3E-4F49-B54E-E01FAC2E80EA}"/>
                </a:ext>
              </a:extLst>
            </p:cNvPr>
            <p:cNvSpPr txBox="1">
              <a:spLocks/>
            </p:cNvSpPr>
            <p:nvPr/>
          </p:nvSpPr>
          <p:spPr>
            <a:xfrm>
              <a:off x="2263140" y="4344659"/>
              <a:ext cx="5478780" cy="380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Source Code Pro Light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Data lake designed to handle 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E7AC4C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petabytes</a:t>
              </a: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 of 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1647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586">
        <p159:morph option="byObject"/>
      </p:transition>
    </mc:Choice>
    <mc:Fallback xmlns="">
      <p:transition spd="slow" advTm="2586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5" name="Google Shape;2965;p259"/>
          <p:cNvPicPr preferRelativeResize="0"/>
          <p:nvPr/>
        </p:nvPicPr>
        <p:blipFill rotWithShape="1">
          <a:blip r:embed="rId3">
            <a:alphaModFix amt="31000"/>
          </a:blip>
          <a:srcRect b="6191"/>
          <a:stretch/>
        </p:blipFill>
        <p:spPr>
          <a:xfrm rot="7944876">
            <a:off x="-363539" y="-786526"/>
            <a:ext cx="2432584" cy="2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6" name="Google Shape;2966;p259"/>
          <p:cNvSpPr txBox="1">
            <a:spLocks noGrp="1"/>
          </p:cNvSpPr>
          <p:nvPr>
            <p:ph type="title" idx="4294967295"/>
          </p:nvPr>
        </p:nvSpPr>
        <p:spPr>
          <a:xfrm>
            <a:off x="955700" y="344130"/>
            <a:ext cx="207706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3600" b="1" dirty="0">
                <a:solidFill>
                  <a:schemeClr val="tx2"/>
                </a:solidFill>
                <a:sym typeface="Arial"/>
              </a:rPr>
              <a:t>Flexibility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89D6AB-BD2A-4FCF-ADC9-3E0E03102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533" y="903398"/>
            <a:ext cx="2237080" cy="2237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185BE7-330E-4568-BE95-A1AD2B074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673" y="1683948"/>
            <a:ext cx="1032510" cy="103251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5B1FCE8-AC71-4EC2-B208-E72510B067A1}"/>
              </a:ext>
            </a:extLst>
          </p:cNvPr>
          <p:cNvSpPr/>
          <p:nvPr/>
        </p:nvSpPr>
        <p:spPr>
          <a:xfrm>
            <a:off x="6488777" y="2085323"/>
            <a:ext cx="480748" cy="229760"/>
          </a:xfrm>
          <a:prstGeom prst="rightArrow">
            <a:avLst/>
          </a:prstGeom>
          <a:solidFill>
            <a:srgbClr val="66A5D6"/>
          </a:solidFill>
          <a:ln>
            <a:solidFill>
              <a:srgbClr val="66A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Google Shape;2967;p259">
            <a:extLst>
              <a:ext uri="{FF2B5EF4-FFF2-40B4-BE49-F238E27FC236}">
                <a16:creationId xmlns:a16="http://schemas.microsoft.com/office/drawing/2014/main" id="{064168A9-AFBE-4D53-955D-D7278AFE1B25}"/>
              </a:ext>
            </a:extLst>
          </p:cNvPr>
          <p:cNvSpPr txBox="1">
            <a:spLocks/>
          </p:cNvSpPr>
          <p:nvPr/>
        </p:nvSpPr>
        <p:spPr>
          <a:xfrm>
            <a:off x="4760947" y="2703797"/>
            <a:ext cx="1968204" cy="41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Source Code Pro Light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IoT devices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308FCE-F209-47A0-8503-503F4F988ED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6890" b="24740"/>
          <a:stretch/>
        </p:blipFill>
        <p:spPr>
          <a:xfrm>
            <a:off x="5723791" y="2125208"/>
            <a:ext cx="148372" cy="56931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516997A4-B423-42C0-AA8D-A7A082A4F7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924133" y="190808"/>
            <a:ext cx="685799" cy="685799"/>
          </a:xfrm>
          <a:prstGeom prst="rect">
            <a:avLst/>
          </a:prstGeom>
        </p:spPr>
      </p:pic>
      <p:sp>
        <p:nvSpPr>
          <p:cNvPr id="15" name="Google Shape;2967;p259">
            <a:extLst>
              <a:ext uri="{FF2B5EF4-FFF2-40B4-BE49-F238E27FC236}">
                <a16:creationId xmlns:a16="http://schemas.microsoft.com/office/drawing/2014/main" id="{7BAA99F2-B37E-4B11-8C68-7A7DDB0914F4}"/>
              </a:ext>
            </a:extLst>
          </p:cNvPr>
          <p:cNvSpPr txBox="1">
            <a:spLocks/>
          </p:cNvSpPr>
          <p:nvPr/>
        </p:nvSpPr>
        <p:spPr>
          <a:xfrm>
            <a:off x="5285603" y="890071"/>
            <a:ext cx="1968204" cy="41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Source Code Pro Light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Diverse Data Formats</a:t>
            </a:r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78BC6A9A-8DF9-4A75-A1DC-C566548DEB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435718" y="457547"/>
            <a:ext cx="348427" cy="348427"/>
          </a:xfrm>
          <a:prstGeom prst="rect">
            <a:avLst/>
          </a:prstGeom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FF7DB41F-043F-4671-A817-D058D0C0BC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763028" y="475232"/>
            <a:ext cx="348427" cy="348427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AFDB82FF-0551-4950-ADB7-9F227C491321}"/>
              </a:ext>
            </a:extLst>
          </p:cNvPr>
          <p:cNvSpPr/>
          <p:nvPr/>
        </p:nvSpPr>
        <p:spPr>
          <a:xfrm rot="1800000">
            <a:off x="7013433" y="1269844"/>
            <a:ext cx="480748" cy="229760"/>
          </a:xfrm>
          <a:prstGeom prst="rightArrow">
            <a:avLst/>
          </a:prstGeom>
          <a:solidFill>
            <a:srgbClr val="66A5D6"/>
          </a:solidFill>
          <a:ln>
            <a:solidFill>
              <a:srgbClr val="66A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207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23703">
        <p14:pan dir="u"/>
      </p:transition>
    </mc:Choice>
    <mc:Fallback xmlns="">
      <p:transition spd="slow" advTm="23703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5" name="Google Shape;2965;p259"/>
          <p:cNvPicPr preferRelativeResize="0"/>
          <p:nvPr/>
        </p:nvPicPr>
        <p:blipFill rotWithShape="1">
          <a:blip r:embed="rId4">
            <a:alphaModFix amt="31000"/>
          </a:blip>
          <a:srcRect b="6191"/>
          <a:stretch/>
        </p:blipFill>
        <p:spPr>
          <a:xfrm rot="7944876">
            <a:off x="-363539" y="-786526"/>
            <a:ext cx="2432584" cy="22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966" name="Google Shape;2966;p259"/>
          <p:cNvSpPr txBox="1">
            <a:spLocks noGrp="1"/>
          </p:cNvSpPr>
          <p:nvPr>
            <p:ph type="title" idx="4294967295"/>
          </p:nvPr>
        </p:nvSpPr>
        <p:spPr>
          <a:xfrm>
            <a:off x="955700" y="344130"/>
            <a:ext cx="207706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3600" b="1" dirty="0">
                <a:solidFill>
                  <a:schemeClr val="tx2"/>
                </a:solidFill>
                <a:sym typeface="Arial"/>
              </a:rPr>
              <a:t>Flexibility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89D6AB-BD2A-4FCF-ADC9-3E0E03102C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533" y="903398"/>
            <a:ext cx="2237080" cy="22370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185BE7-330E-4568-BE95-A1AD2B074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673" y="1683948"/>
            <a:ext cx="1032510" cy="103251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5B1FCE8-AC71-4EC2-B208-E72510B067A1}"/>
              </a:ext>
            </a:extLst>
          </p:cNvPr>
          <p:cNvSpPr/>
          <p:nvPr/>
        </p:nvSpPr>
        <p:spPr>
          <a:xfrm>
            <a:off x="6488777" y="2085323"/>
            <a:ext cx="480748" cy="229760"/>
          </a:xfrm>
          <a:prstGeom prst="rightArrow">
            <a:avLst/>
          </a:prstGeom>
          <a:solidFill>
            <a:srgbClr val="66A5D6"/>
          </a:solidFill>
          <a:ln>
            <a:solidFill>
              <a:srgbClr val="66A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" name="Google Shape;2967;p259">
            <a:extLst>
              <a:ext uri="{FF2B5EF4-FFF2-40B4-BE49-F238E27FC236}">
                <a16:creationId xmlns:a16="http://schemas.microsoft.com/office/drawing/2014/main" id="{064168A9-AFBE-4D53-955D-D7278AFE1B25}"/>
              </a:ext>
            </a:extLst>
          </p:cNvPr>
          <p:cNvSpPr txBox="1">
            <a:spLocks/>
          </p:cNvSpPr>
          <p:nvPr/>
        </p:nvSpPr>
        <p:spPr>
          <a:xfrm>
            <a:off x="4760947" y="2703797"/>
            <a:ext cx="1968204" cy="41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Source Code Pro Light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IoT devices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9CAC94-6BEF-45FA-A396-B085A692C1A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6890" b="24740"/>
          <a:stretch/>
        </p:blipFill>
        <p:spPr>
          <a:xfrm>
            <a:off x="1498372" y="1790757"/>
            <a:ext cx="2732973" cy="104865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F843DCB-DFCC-4C7D-ACE3-4A6844E0FA04}"/>
              </a:ext>
            </a:extLst>
          </p:cNvPr>
          <p:cNvGrpSpPr/>
          <p:nvPr/>
        </p:nvGrpSpPr>
        <p:grpSpPr>
          <a:xfrm>
            <a:off x="802710" y="3576798"/>
            <a:ext cx="3958237" cy="410556"/>
            <a:chOff x="802710" y="3576798"/>
            <a:chExt cx="3958237" cy="410556"/>
          </a:xfrm>
        </p:grpSpPr>
        <p:sp>
          <p:nvSpPr>
            <p:cNvPr id="15" name="Google Shape;2967;p259">
              <a:extLst>
                <a:ext uri="{FF2B5EF4-FFF2-40B4-BE49-F238E27FC236}">
                  <a16:creationId xmlns:a16="http://schemas.microsoft.com/office/drawing/2014/main" id="{A05FCFDB-AFE0-4F58-A10B-5E9BAD7AAD06}"/>
                </a:ext>
              </a:extLst>
            </p:cNvPr>
            <p:cNvSpPr txBox="1">
              <a:spLocks/>
            </p:cNvSpPr>
            <p:nvPr/>
          </p:nvSpPr>
          <p:spPr>
            <a:xfrm>
              <a:off x="900807" y="3576798"/>
              <a:ext cx="3860140" cy="410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Source Code Pro Light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Data stored in its native format.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4771892-7FDB-4071-872B-CC4DE84FF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50000"/>
            </a:blip>
            <a:stretch>
              <a:fillRect/>
            </a:stretch>
          </p:blipFill>
          <p:spPr>
            <a:xfrm>
              <a:off x="802710" y="3670950"/>
              <a:ext cx="196194" cy="22225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F041A1-E0CD-4EDA-B882-C489575C3BE5}"/>
              </a:ext>
            </a:extLst>
          </p:cNvPr>
          <p:cNvGrpSpPr/>
          <p:nvPr/>
        </p:nvGrpSpPr>
        <p:grpSpPr>
          <a:xfrm>
            <a:off x="4927265" y="3670950"/>
            <a:ext cx="2237080" cy="1123631"/>
            <a:chOff x="5971205" y="3640651"/>
            <a:chExt cx="2237080" cy="112363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FF8F71B-398B-4822-B3FA-7FA9F552D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84435" y="3679566"/>
              <a:ext cx="615576" cy="61557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19F6511-D39F-4ED4-9B70-74B7B79BC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418154" y="3640651"/>
              <a:ext cx="657838" cy="657838"/>
            </a:xfrm>
            <a:prstGeom prst="rect">
              <a:avLst/>
            </a:prstGeom>
          </p:spPr>
        </p:pic>
        <p:sp>
          <p:nvSpPr>
            <p:cNvPr id="20" name="Google Shape;2967;p259">
              <a:extLst>
                <a:ext uri="{FF2B5EF4-FFF2-40B4-BE49-F238E27FC236}">
                  <a16:creationId xmlns:a16="http://schemas.microsoft.com/office/drawing/2014/main" id="{BA575C03-7966-49E6-9ACA-D2A6554BB445}"/>
                </a:ext>
              </a:extLst>
            </p:cNvPr>
            <p:cNvSpPr txBox="1">
              <a:spLocks/>
            </p:cNvSpPr>
            <p:nvPr/>
          </p:nvSpPr>
          <p:spPr>
            <a:xfrm>
              <a:off x="5971205" y="4353726"/>
              <a:ext cx="2237080" cy="4105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Source Code Pro Light"/>
                <a:buChar char="●"/>
                <a:defRPr sz="18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●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○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Source Code Pro Light"/>
                <a:buChar char="■"/>
                <a:defRPr sz="1400" b="0" i="0" u="none" strike="noStrike" cap="none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defRPr>
              </a:lvl9pPr>
            </a:lstStyle>
            <a:p>
              <a:pPr marL="1143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100000"/>
                <a:buFont typeface="Source Code Pro Light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Code Pro Light"/>
                  <a:ea typeface="Source Code Pro Light"/>
                  <a:sym typeface="Source Code Pro Light"/>
                </a:rPr>
                <a:t>Data Engineers And Data Scientists </a:t>
              </a:r>
            </a:p>
          </p:txBody>
        </p:sp>
      </p:grpSp>
      <p:pic>
        <p:nvPicPr>
          <p:cNvPr id="21" name="Picture 3">
            <a:extLst>
              <a:ext uri="{FF2B5EF4-FFF2-40B4-BE49-F238E27FC236}">
                <a16:creationId xmlns:a16="http://schemas.microsoft.com/office/drawing/2014/main" id="{4E4DD5E3-B219-4CC0-925F-CB9A1C706B6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924133" y="190808"/>
            <a:ext cx="685799" cy="685799"/>
          </a:xfrm>
          <a:prstGeom prst="rect">
            <a:avLst/>
          </a:prstGeom>
        </p:spPr>
      </p:pic>
      <p:sp>
        <p:nvSpPr>
          <p:cNvPr id="22" name="Google Shape;2967;p259">
            <a:extLst>
              <a:ext uri="{FF2B5EF4-FFF2-40B4-BE49-F238E27FC236}">
                <a16:creationId xmlns:a16="http://schemas.microsoft.com/office/drawing/2014/main" id="{66AAE054-B2E0-4DCE-9667-503D0DF26A31}"/>
              </a:ext>
            </a:extLst>
          </p:cNvPr>
          <p:cNvSpPr txBox="1">
            <a:spLocks/>
          </p:cNvSpPr>
          <p:nvPr/>
        </p:nvSpPr>
        <p:spPr>
          <a:xfrm>
            <a:off x="5285603" y="890071"/>
            <a:ext cx="1968204" cy="41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Source Code Pro Light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Diverse Data Formats</a:t>
            </a:r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E61B5A10-E882-41BE-B26A-044AE29BED2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6435718" y="457547"/>
            <a:ext cx="348427" cy="348427"/>
          </a:xfrm>
          <a:prstGeom prst="rect">
            <a:avLst/>
          </a:prstGeom>
        </p:spPr>
      </p:pic>
      <p:pic>
        <p:nvPicPr>
          <p:cNvPr id="24" name="Picture 3">
            <a:extLst>
              <a:ext uri="{FF2B5EF4-FFF2-40B4-BE49-F238E27FC236}">
                <a16:creationId xmlns:a16="http://schemas.microsoft.com/office/drawing/2014/main" id="{44E16127-49B1-4C0F-8BC7-39D2C2DB90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763028" y="475232"/>
            <a:ext cx="348427" cy="348427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122E1FBE-98B0-4BC4-891B-7AAF0A0444D4}"/>
              </a:ext>
            </a:extLst>
          </p:cNvPr>
          <p:cNvSpPr/>
          <p:nvPr/>
        </p:nvSpPr>
        <p:spPr>
          <a:xfrm rot="1800000">
            <a:off x="7013433" y="1269844"/>
            <a:ext cx="480748" cy="229760"/>
          </a:xfrm>
          <a:prstGeom prst="rightArrow">
            <a:avLst/>
          </a:prstGeom>
          <a:solidFill>
            <a:srgbClr val="66A5D6"/>
          </a:solidFill>
          <a:ln>
            <a:solidFill>
              <a:srgbClr val="66A5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6" name="Google Shape;2967;p259">
            <a:extLst>
              <a:ext uri="{FF2B5EF4-FFF2-40B4-BE49-F238E27FC236}">
                <a16:creationId xmlns:a16="http://schemas.microsoft.com/office/drawing/2014/main" id="{398440C3-F567-46E3-BAC6-B16874D26969}"/>
              </a:ext>
            </a:extLst>
          </p:cNvPr>
          <p:cNvSpPr txBox="1">
            <a:spLocks/>
          </p:cNvSpPr>
          <p:nvPr/>
        </p:nvSpPr>
        <p:spPr>
          <a:xfrm>
            <a:off x="7312328" y="3714766"/>
            <a:ext cx="1610692" cy="1024874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sysDash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 sz="14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11430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Source Code Pro Light"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7AC4C"/>
                </a:solidFill>
                <a:effectLst/>
                <a:uLnTx/>
                <a:uFillTx/>
                <a:latin typeface="Source Code Pro Light"/>
                <a:ea typeface="Source Code Pro Light"/>
                <a:sym typeface="Source Code Pro Light"/>
              </a:rPr>
              <a:t>They can retrieve data make transformations on the fly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4428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6434">
        <p159:morph option="byObject"/>
      </p:transition>
    </mc:Choice>
    <mc:Fallback xmlns="">
      <p:transition spd="slow" advTm="6643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8.3|14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9.8|2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4.3|4.1|11.3|1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.3|1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5.7|10.4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2.1|7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1|1|1.2|1.1|1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0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5|1.7|3.6"/>
</p:tagLst>
</file>

<file path=ppt/theme/theme1.xml><?xml version="1.0" encoding="utf-8"?>
<a:theme xmlns:a="http://schemas.openxmlformats.org/drawingml/2006/main" name="1_Astrophysics Lesson for College by Slidesgo">
  <a:themeElements>
    <a:clrScheme name="Custom 6">
      <a:dk1>
        <a:srgbClr val="1E1F24"/>
      </a:dk1>
      <a:lt1>
        <a:srgbClr val="FFFFFF"/>
      </a:lt1>
      <a:dk2>
        <a:srgbClr val="66A5D6"/>
      </a:dk2>
      <a:lt2>
        <a:srgbClr val="FFFFFF"/>
      </a:lt2>
      <a:accent1>
        <a:srgbClr val="66A5D6"/>
      </a:accent1>
      <a:accent2>
        <a:srgbClr val="93A79C"/>
      </a:accent2>
      <a:accent3>
        <a:srgbClr val="E7AC4C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459DB1-3D79-42D3-BADA-968BD10234BB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On-screen Show (16:9)</PresentationFormat>
  <Paragraphs>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Teko Medium</vt:lpstr>
      <vt:lpstr>Wingdings</vt:lpstr>
      <vt:lpstr>Teko</vt:lpstr>
      <vt:lpstr>Arial</vt:lpstr>
      <vt:lpstr>Source Code Pro Light</vt:lpstr>
      <vt:lpstr>Source Code Pro</vt:lpstr>
      <vt:lpstr>1_Astrophysics Lesson for College by Slidesgo</vt:lpstr>
      <vt:lpstr>PowerPoint Presentation</vt:lpstr>
      <vt:lpstr>PowerPoint Presentation</vt:lpstr>
      <vt:lpstr>Introduction to Data Lake</vt:lpstr>
      <vt:lpstr>What is a Data Lake?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Evolutionary Response to Big Data</vt:lpstr>
      <vt:lpstr> Benefits of a Data Lake</vt:lpstr>
      <vt:lpstr>Centralization &amp; Accessiblity</vt:lpstr>
      <vt:lpstr>Centralization &amp; Accessiblity</vt:lpstr>
      <vt:lpstr>Scalability</vt:lpstr>
      <vt:lpstr>Scalability</vt:lpstr>
      <vt:lpstr>Flexibility</vt:lpstr>
      <vt:lpstr>Flexibility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</dc:creator>
  <cp:lastModifiedBy>Nikolai</cp:lastModifiedBy>
  <cp:revision>398</cp:revision>
  <dcterms:modified xsi:type="dcterms:W3CDTF">2024-07-19T07:32:14Z</dcterms:modified>
</cp:coreProperties>
</file>