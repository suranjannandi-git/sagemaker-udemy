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0" r:id="rId1"/>
  </p:sldMasterIdLst>
  <p:notesMasterIdLst>
    <p:notesMasterId r:id="rId7"/>
  </p:notesMasterIdLst>
  <p:sldIdLst>
    <p:sldId id="1399" r:id="rId2"/>
    <p:sldId id="1423" r:id="rId3"/>
    <p:sldId id="1424" r:id="rId4"/>
    <p:sldId id="1425" r:id="rId5"/>
    <p:sldId id="1426" r:id="rId6"/>
  </p:sldIdLst>
  <p:sldSz cx="9144000" cy="5143500" type="screen16x9"/>
  <p:notesSz cx="6858000" cy="9144000"/>
  <p:embeddedFontLst>
    <p:embeddedFont>
      <p:font typeface="Source Code Pro Black" panose="020F0502020204030204" pitchFamily="34" charset="0"/>
      <p:bold r:id="rId8"/>
      <p:italic r:id="rId9"/>
      <p:boldItalic r:id="rId10"/>
    </p:embeddedFont>
    <p:embeddedFont>
      <p:font typeface="Source Code Pro Light" panose="020F0302020204030204" pitchFamily="34" charset="0"/>
      <p:regular r:id="rId11"/>
      <p:bold r:id="rId12"/>
      <p:italic r:id="rId13"/>
      <p:boldItalic r:id="rId14"/>
    </p:embeddedFont>
    <p:embeddedFont>
      <p:font typeface="Teko" panose="02000000000000000000" pitchFamily="2" charset="77"/>
      <p:regular r:id="rId15"/>
      <p:bold r:id="rId16"/>
    </p:embeddedFont>
    <p:embeddedFont>
      <p:font typeface="Teko Medium" panose="020F050202020403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485C"/>
    <a:srgbClr val="212837"/>
    <a:srgbClr val="D5C8B8"/>
    <a:srgbClr val="579C32"/>
    <a:srgbClr val="1E1F24"/>
    <a:srgbClr val="464854"/>
    <a:srgbClr val="2F3C4F"/>
    <a:srgbClr val="3C465A"/>
    <a:srgbClr val="20302D"/>
    <a:srgbClr val="002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F7A4C6-9727-4C60-AC3C-273320638C84}">
  <a:tblStyle styleId="{ECF7A4C6-9727-4C60-AC3C-273320638C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7" autoAdjust="0"/>
    <p:restoredTop sz="94068" autoAdjust="0"/>
  </p:normalViewPr>
  <p:slideViewPr>
    <p:cSldViewPr>
      <p:cViewPr>
        <p:scale>
          <a:sx n="192" d="100"/>
          <a:sy n="192" d="100"/>
        </p:scale>
        <p:origin x="1576" y="43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9d5e29a64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9d5e29a64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6504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d5e29a64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d5e29a64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356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d5e29a64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d5e29a64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599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d5e29a64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d5e29a64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431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d5e29a64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d5e29a64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9634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4"/>
          <p:cNvGrpSpPr/>
          <p:nvPr/>
        </p:nvGrpSpPr>
        <p:grpSpPr>
          <a:xfrm>
            <a:off x="4623226" y="329155"/>
            <a:ext cx="4189623" cy="3267308"/>
            <a:chOff x="4623226" y="329155"/>
            <a:chExt cx="4189623" cy="3267308"/>
          </a:xfrm>
        </p:grpSpPr>
        <p:grpSp>
          <p:nvGrpSpPr>
            <p:cNvPr id="65" name="Google Shape;65;p4"/>
            <p:cNvGrpSpPr/>
            <p:nvPr/>
          </p:nvGrpSpPr>
          <p:grpSpPr>
            <a:xfrm>
              <a:off x="8755334" y="585997"/>
              <a:ext cx="57515" cy="3010466"/>
              <a:chOff x="8301900" y="2571738"/>
              <a:chExt cx="38150" cy="1997125"/>
            </a:xfrm>
          </p:grpSpPr>
          <p:sp>
            <p:nvSpPr>
              <p:cNvPr id="66" name="Google Shape;66;p4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3" extrusionOk="0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71" extrusionOk="0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916" extrusionOk="0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916" extrusionOk="0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944" extrusionOk="0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16" extrusionOk="0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944" extrusionOk="0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916" extrusionOk="0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" name="Google Shape;78;p4"/>
            <p:cNvGrpSpPr/>
            <p:nvPr/>
          </p:nvGrpSpPr>
          <p:grpSpPr>
            <a:xfrm>
              <a:off x="4623226" y="329155"/>
              <a:ext cx="3915426" cy="61690"/>
              <a:chOff x="5614975" y="4609225"/>
              <a:chExt cx="2597125" cy="40925"/>
            </a:xfrm>
          </p:grpSpPr>
          <p:sp>
            <p:nvSpPr>
              <p:cNvPr id="79" name="Google Shape;79;p4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445" extrusionOk="0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94" extrusionOk="0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22" extrusionOk="0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694" extrusionOk="0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22" extrusionOk="0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77" extrusionOk="0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94" extrusionOk="0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722" extrusionOk="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1" name="Google Shape;91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"/>
          <p:cNvSpPr txBox="1">
            <a:spLocks noGrp="1"/>
          </p:cNvSpPr>
          <p:nvPr>
            <p:ph type="body" idx="1" hasCustomPrompt="1"/>
          </p:nvPr>
        </p:nvSpPr>
        <p:spPr>
          <a:xfrm>
            <a:off x="872400" y="1751379"/>
            <a:ext cx="7704000" cy="5143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 panose="02070309020205020404" pitchFamily="49" charset="0"/>
              <a:buNone/>
              <a:tabLst/>
              <a:defRPr sz="1600">
                <a:solidFill>
                  <a:schemeClr val="bg1"/>
                </a:solidFill>
                <a:latin typeface="Source Code Pro Light" panose="020B0309030403020204" pitchFamily="49" charset="0"/>
                <a:ea typeface="Source Code Pro Light" panose="020B0309030403020204" pitchFamily="49" charset="0"/>
              </a:defRPr>
            </a:lvl1pPr>
            <a:lvl2pPr marL="596900"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r>
              <a:rPr lang="en-US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Text Subtitle</a:t>
            </a:r>
            <a:endParaRPr lang="en-US">
              <a:latin typeface="Source Code Pro Black" panose="020B0309030403020204" pitchFamily="49" charset="0"/>
              <a:ea typeface="Source Code Pro Black" panose="020B0309030403020204" pitchFamily="49" charset="0"/>
            </a:endParaRPr>
          </a:p>
        </p:txBody>
      </p:sp>
      <p:grpSp>
        <p:nvGrpSpPr>
          <p:cNvPr id="93" name="Google Shape;93;p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94" name="Google Shape;94;p4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4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98" name="Google Shape;98;p4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02" name="Google Shape;102;p4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06" name="Google Shape;106;p4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92;p4">
            <a:extLst>
              <a:ext uri="{FF2B5EF4-FFF2-40B4-BE49-F238E27FC236}">
                <a16:creationId xmlns:a16="http://schemas.microsoft.com/office/drawing/2014/main" id="{A4C9FB7E-9085-4D07-BA33-AEECDD85042C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872400" y="1378025"/>
            <a:ext cx="7704000" cy="5143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 panose="02070309020205020404" pitchFamily="49" charset="0"/>
              <a:buNone/>
              <a:tabLst/>
              <a:defRPr sz="1800">
                <a:solidFill>
                  <a:schemeClr val="accent3">
                    <a:lumMod val="60000"/>
                    <a:lumOff val="40000"/>
                  </a:schemeClr>
                </a:solidFill>
                <a:latin typeface="Source Code Pro Light" panose="020B0309030403020204" pitchFamily="49" charset="0"/>
                <a:ea typeface="Source Code Pro Light" panose="020B0309030403020204" pitchFamily="49" charset="0"/>
              </a:defRPr>
            </a:lvl1pPr>
            <a:lvl2pPr marL="596900"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r>
              <a:rPr lang="en-US">
                <a:latin typeface="Source Code Pro Black" panose="020B0309030403020204" pitchFamily="49" charset="0"/>
                <a:ea typeface="Source Code Pro Black" panose="020B0309030403020204" pitchFamily="49" charset="0"/>
              </a:rPr>
              <a:t>Text 1:</a:t>
            </a:r>
          </a:p>
        </p:txBody>
      </p:sp>
    </p:spTree>
    <p:extLst>
      <p:ext uri="{BB962C8B-B14F-4D97-AF65-F5344CB8AC3E}">
        <p14:creationId xmlns:p14="http://schemas.microsoft.com/office/powerpoint/2010/main" val="44733632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>
            <a:spLocks noGrp="1"/>
          </p:cNvSpPr>
          <p:nvPr>
            <p:ph type="title" hasCustomPrompt="1"/>
          </p:nvPr>
        </p:nvSpPr>
        <p:spPr>
          <a:xfrm>
            <a:off x="720000" y="1973100"/>
            <a:ext cx="7704000" cy="11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7" name="Google Shape;217;p11"/>
          <p:cNvSpPr txBox="1">
            <a:spLocks noGrp="1"/>
          </p:cNvSpPr>
          <p:nvPr>
            <p:ph type="subTitle" idx="1"/>
          </p:nvPr>
        </p:nvSpPr>
        <p:spPr>
          <a:xfrm>
            <a:off x="1176750" y="3528075"/>
            <a:ext cx="6790500" cy="5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8" name="Google Shape;218;p1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19" name="Google Shape;219;p11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23" name="Google Shape;223;p11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1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27" name="Google Shape;227;p11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31" name="Google Shape;231;p11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" name="Google Shape;234;p11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A5DEE8-B232-4525-9B3D-8C056DBC9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31264" y="-541271"/>
            <a:ext cx="9144000" cy="32131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328F1CC-B5DF-4957-850E-1C099B937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52400" y="-303934"/>
            <a:ext cx="9143946" cy="32131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1" name="Google Shape;1181;p49"/>
          <p:cNvGrpSpPr/>
          <p:nvPr/>
        </p:nvGrpSpPr>
        <p:grpSpPr>
          <a:xfrm>
            <a:off x="179802" y="164163"/>
            <a:ext cx="8784400" cy="4781834"/>
            <a:chOff x="179802" y="164163"/>
            <a:chExt cx="8784400" cy="4781834"/>
          </a:xfrm>
        </p:grpSpPr>
        <p:grpSp>
          <p:nvGrpSpPr>
            <p:cNvPr id="1182" name="Google Shape;1182;p49"/>
            <p:cNvGrpSpPr/>
            <p:nvPr/>
          </p:nvGrpSpPr>
          <p:grpSpPr>
            <a:xfrm>
              <a:off x="8735377" y="164163"/>
              <a:ext cx="228825" cy="228825"/>
              <a:chOff x="3023950" y="3689950"/>
              <a:chExt cx="316100" cy="316100"/>
            </a:xfrm>
          </p:grpSpPr>
          <p:sp>
            <p:nvSpPr>
              <p:cNvPr id="1183" name="Google Shape;1183;p49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9012" fill="none" extrusionOk="0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9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644" fill="none" extrusionOk="0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9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2644" h="1" fill="none" extrusionOk="0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6" name="Google Shape;1186;p49"/>
            <p:cNvGrpSpPr/>
            <p:nvPr/>
          </p:nvGrpSpPr>
          <p:grpSpPr>
            <a:xfrm>
              <a:off x="179802" y="164163"/>
              <a:ext cx="228825" cy="228825"/>
              <a:chOff x="3023950" y="3689950"/>
              <a:chExt cx="316100" cy="316100"/>
            </a:xfrm>
          </p:grpSpPr>
          <p:sp>
            <p:nvSpPr>
              <p:cNvPr id="1187" name="Google Shape;1187;p49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9012" fill="none" extrusionOk="0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9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644" fill="none" extrusionOk="0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9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2644" h="1" fill="none" extrusionOk="0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0" name="Google Shape;1190;p49"/>
            <p:cNvGrpSpPr/>
            <p:nvPr/>
          </p:nvGrpSpPr>
          <p:grpSpPr>
            <a:xfrm>
              <a:off x="179802" y="4717140"/>
              <a:ext cx="228825" cy="228856"/>
              <a:chOff x="3023950" y="3689950"/>
              <a:chExt cx="316100" cy="316100"/>
            </a:xfrm>
          </p:grpSpPr>
          <p:sp>
            <p:nvSpPr>
              <p:cNvPr id="1191" name="Google Shape;1191;p49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9012" fill="none" extrusionOk="0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9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644" fill="none" extrusionOk="0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9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2644" h="1" fill="none" extrusionOk="0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w="9000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4" name="Google Shape;1194;p49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1195" name="Google Shape;1195;p49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196" name="Google Shape;1196;p49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9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9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9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3" extrusionOk="0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9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71" extrusionOk="0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9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9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916" extrusionOk="0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49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916" extrusionOk="0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9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944" extrusionOk="0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9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16" extrusionOk="0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9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944" extrusionOk="0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49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916" extrusionOk="0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8" name="Google Shape;1208;p49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209" name="Google Shape;1209;p49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49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445" extrusionOk="0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9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49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94" extrusionOk="0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49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22" extrusionOk="0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49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694" extrusionOk="0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49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22" extrusionOk="0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49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77" extrusionOk="0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49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49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94" extrusionOk="0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49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9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722" extrusionOk="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3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2" name="Google Shape;1222;p5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223" name="Google Shape;1223;p50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50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50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6" name="Google Shape;1226;p50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227" name="Google Shape;1227;p50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50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50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0" name="Google Shape;1230;p5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231" name="Google Shape;1231;p50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50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0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4" name="Google Shape;1234;p5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235" name="Google Shape;1235;p50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50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50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8" name="Google Shape;1238;p50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4"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0" name="Google Shape;1240;p5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241" name="Google Shape;1241;p51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51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51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51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245" name="Google Shape;1245;p51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1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51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8" name="Google Shape;1248;p5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249" name="Google Shape;1249;p51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51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1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2" name="Google Shape;1252;p5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253" name="Google Shape;1253;p51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1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51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000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9EEE-16ED-4176-B32B-5AB272ABC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40F01-B648-46AB-9E5B-18067C2E0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3118A-983C-4BAB-A2F5-F241AF81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4534-9969-4CB2-9ABD-C21CB6C0DCA9}" type="datetimeFigureOut">
              <a:rPr lang="en-US" smtClean="0"/>
              <a:t>7/17/24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13612-C528-4317-81AF-FF4A8727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E5F64-03B8-4684-BD50-660EC9D3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85E3-51D0-49B5-A3F2-7F4742E74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3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C6E3-6B76-4F2D-97CC-E8B925356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B720C-0417-4857-96DB-ABBD0B12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24CDB-185C-4254-8ED4-E5C2086E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4534-9969-4CB2-9ABD-C21CB6C0DCA9}" type="datetimeFigureOut">
              <a:rPr lang="en-US" smtClean="0"/>
              <a:t>7/17/24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368-6DBC-45CB-80C8-97060A18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9FE74-6212-4D92-9932-D66EF892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85E3-51D0-49B5-A3F2-7F4742E74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657" r:id="rId2"/>
    <p:sldLayoutId id="2147483695" r:id="rId3"/>
    <p:sldLayoutId id="2147483696" r:id="rId4"/>
    <p:sldLayoutId id="2147483697" r:id="rId5"/>
    <p:sldLayoutId id="2147483706" r:id="rId6"/>
    <p:sldLayoutId id="2147483707" r:id="rId7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/>
        </p:nvSpPr>
        <p:spPr>
          <a:xfrm>
            <a:off x="1066800" y="1962150"/>
            <a:ext cx="7010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Teko"/>
              <a:buNone/>
              <a:tabLst/>
              <a:defRPr/>
            </a:pPr>
            <a:r>
              <a:rPr kumimoji="0" lang="en-US" sz="5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/>
                <a:ea typeface="Teko"/>
                <a:cs typeface="Teko"/>
                <a:sym typeface="Teko"/>
              </a:rPr>
              <a:t>Amazon Q Business</a:t>
            </a:r>
          </a:p>
        </p:txBody>
      </p:sp>
    </p:spTree>
    <p:extLst>
      <p:ext uri="{BB962C8B-B14F-4D97-AF65-F5344CB8AC3E}">
        <p14:creationId xmlns:p14="http://schemas.microsoft.com/office/powerpoint/2010/main" val="632671975"/>
      </p:ext>
    </p:extLst>
  </p:cSld>
  <p:clrMapOvr>
    <a:masterClrMapping/>
  </p:clrMapOvr>
  <p:transition>
    <p:fade/>
  </p:transition>
  <p:extLst>
    <p:ext uri="{E180D4A7-C9FB-4DFB-919C-405C955672EB}">
      <p14:showEvtLst xmlns:p14="http://schemas.microsoft.com/office/powerpoint/2010/main">
        <p14:playEvt time="3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>
          <a:blip r:embed="rId4">
            <a:alphaModFix amt="19000"/>
          </a:blip>
          <a:stretch>
            <a:fillRect/>
          </a:stretch>
        </p:blipFill>
        <p:spPr>
          <a:xfrm>
            <a:off x="6934200" y="-1095736"/>
            <a:ext cx="2493585" cy="249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4;p23">
            <a:extLst>
              <a:ext uri="{FF2B5EF4-FFF2-40B4-BE49-F238E27FC236}">
                <a16:creationId xmlns:a16="http://schemas.microsoft.com/office/drawing/2014/main" id="{117969D3-D586-2F60-3DBD-E2524685662F}"/>
              </a:ext>
            </a:extLst>
          </p:cNvPr>
          <p:cNvSpPr txBox="1">
            <a:spLocks/>
          </p:cNvSpPr>
          <p:nvPr/>
        </p:nvSpPr>
        <p:spPr>
          <a:xfrm>
            <a:off x="914400" y="558959"/>
            <a:ext cx="44958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2000"/>
            </a:pPr>
            <a:r>
              <a:rPr lang="en-US" sz="3200" b="1" dirty="0">
                <a:solidFill>
                  <a:schemeClr val="bg1"/>
                </a:solidFill>
              </a:rPr>
              <a:t>Amazon Q Business</a:t>
            </a:r>
          </a:p>
        </p:txBody>
      </p:sp>
      <p:sp>
        <p:nvSpPr>
          <p:cNvPr id="3" name="Google Shape;242;p23">
            <a:extLst>
              <a:ext uri="{FF2B5EF4-FFF2-40B4-BE49-F238E27FC236}">
                <a16:creationId xmlns:a16="http://schemas.microsoft.com/office/drawing/2014/main" id="{45924D55-E68E-3F28-682A-1C33EF3FBE1A}"/>
              </a:ext>
            </a:extLst>
          </p:cNvPr>
          <p:cNvSpPr txBox="1">
            <a:spLocks/>
          </p:cNvSpPr>
          <p:nvPr/>
        </p:nvSpPr>
        <p:spPr>
          <a:xfrm>
            <a:off x="914401" y="1363559"/>
            <a:ext cx="6248400" cy="326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1200" dirty="0">
                <a:solidFill>
                  <a:schemeClr val="accent1"/>
                </a:solidFill>
              </a:rPr>
              <a:t>AI-powered assistant.</a:t>
            </a:r>
            <a:endParaRPr lang="en-US" sz="1200" dirty="0"/>
          </a:p>
          <a:p>
            <a:pPr>
              <a:lnSpc>
                <a:spcPct val="200000"/>
              </a:lnSpc>
            </a:pPr>
            <a:r>
              <a:rPr lang="en-US" sz="1200" dirty="0"/>
              <a:t>Intelligent answers, content generation, summaries and task automations.</a:t>
            </a:r>
          </a:p>
          <a:p>
            <a:pPr>
              <a:lnSpc>
                <a:spcPct val="200000"/>
              </a:lnSpc>
            </a:pPr>
            <a:r>
              <a:rPr lang="en-US" sz="1200" dirty="0"/>
              <a:t>Accessible via </a:t>
            </a:r>
            <a:r>
              <a:rPr lang="en-US" sz="1200" dirty="0">
                <a:solidFill>
                  <a:schemeClr val="accent1"/>
                </a:solidFill>
              </a:rPr>
              <a:t>web interface </a:t>
            </a:r>
            <a:r>
              <a:rPr lang="en-US" sz="1200" dirty="0"/>
              <a:t>or </a:t>
            </a:r>
            <a:r>
              <a:rPr lang="en-US" sz="1200" dirty="0">
                <a:solidFill>
                  <a:schemeClr val="accent1"/>
                </a:solidFill>
              </a:rPr>
              <a:t>APIs.</a:t>
            </a:r>
          </a:p>
          <a:p>
            <a:pPr>
              <a:lnSpc>
                <a:spcPct val="200000"/>
              </a:lnSpc>
            </a:pPr>
            <a:r>
              <a:rPr lang="en-US" sz="1200" dirty="0"/>
              <a:t>Can integrate with other business platforms like </a:t>
            </a:r>
            <a:r>
              <a:rPr lang="en-US" sz="1200" dirty="0">
                <a:solidFill>
                  <a:schemeClr val="accent1"/>
                </a:solidFill>
              </a:rPr>
              <a:t>Teams</a:t>
            </a:r>
            <a:r>
              <a:rPr lang="en-US" sz="1200" dirty="0"/>
              <a:t>, </a:t>
            </a:r>
            <a:r>
              <a:rPr lang="en-US" sz="1200" dirty="0">
                <a:solidFill>
                  <a:schemeClr val="accent1"/>
                </a:solidFill>
              </a:rPr>
              <a:t>Slack</a:t>
            </a:r>
            <a:r>
              <a:rPr lang="en-US" sz="1200" dirty="0"/>
              <a:t>.</a:t>
            </a:r>
          </a:p>
          <a:p>
            <a:pPr marL="114300" indent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13" name="Picture 12" descr="A blue and purple hexagon with white logo&#10;&#10;Description automatically generated">
            <a:extLst>
              <a:ext uri="{FF2B5EF4-FFF2-40B4-BE49-F238E27FC236}">
                <a16:creationId xmlns:a16="http://schemas.microsoft.com/office/drawing/2014/main" id="{04ABE0C2-7145-3D01-8119-4D9AD5A77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1" y="848654"/>
            <a:ext cx="990600" cy="990600"/>
          </a:xfrm>
          <a:prstGeom prst="rect">
            <a:avLst/>
          </a:prstGeom>
          <a:ln w="6072" cap="flat">
            <a:noFill/>
            <a:prstDash val="solid"/>
            <a:miter/>
          </a:ln>
          <a:effectLst>
            <a:reflection blurRad="254000" stA="80000" endPos="31000" dist="254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5582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>
          <a:blip r:embed="rId4">
            <a:alphaModFix amt="19000"/>
          </a:blip>
          <a:stretch>
            <a:fillRect/>
          </a:stretch>
        </p:blipFill>
        <p:spPr>
          <a:xfrm>
            <a:off x="6934200" y="-1095736"/>
            <a:ext cx="2493585" cy="249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4;p23">
            <a:extLst>
              <a:ext uri="{FF2B5EF4-FFF2-40B4-BE49-F238E27FC236}">
                <a16:creationId xmlns:a16="http://schemas.microsoft.com/office/drawing/2014/main" id="{117969D3-D586-2F60-3DBD-E2524685662F}"/>
              </a:ext>
            </a:extLst>
          </p:cNvPr>
          <p:cNvSpPr txBox="1">
            <a:spLocks/>
          </p:cNvSpPr>
          <p:nvPr/>
        </p:nvSpPr>
        <p:spPr>
          <a:xfrm>
            <a:off x="914400" y="558959"/>
            <a:ext cx="44958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2000"/>
            </a:pPr>
            <a:r>
              <a:rPr lang="en-US" sz="3200" b="1" dirty="0">
                <a:solidFill>
                  <a:schemeClr val="bg1"/>
                </a:solidFill>
              </a:rPr>
              <a:t>Amazon Q Business</a:t>
            </a:r>
          </a:p>
        </p:txBody>
      </p:sp>
      <p:sp>
        <p:nvSpPr>
          <p:cNvPr id="4" name="Google Shape;2694;p229">
            <a:extLst>
              <a:ext uri="{FF2B5EF4-FFF2-40B4-BE49-F238E27FC236}">
                <a16:creationId xmlns:a16="http://schemas.microsoft.com/office/drawing/2014/main" id="{4291B0CC-F6D2-E205-691D-B907C8CD7289}"/>
              </a:ext>
            </a:extLst>
          </p:cNvPr>
          <p:cNvSpPr txBox="1"/>
          <p:nvPr/>
        </p:nvSpPr>
        <p:spPr>
          <a:xfrm>
            <a:off x="926042" y="1081005"/>
            <a:ext cx="2971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/>
            </a:pPr>
            <a:r>
              <a:rPr lang="en-US" sz="2400" u="sng" dirty="0">
                <a:solidFill>
                  <a:srgbClr val="E7AC4C"/>
                </a:solidFill>
                <a:latin typeface="Teko"/>
                <a:cs typeface="Teko"/>
              </a:rPr>
              <a:t>Key Features:</a:t>
            </a:r>
          </a:p>
        </p:txBody>
      </p:sp>
      <p:sp>
        <p:nvSpPr>
          <p:cNvPr id="5" name="Rectangle: Rounded Corners 10">
            <a:extLst>
              <a:ext uri="{FF2B5EF4-FFF2-40B4-BE49-F238E27FC236}">
                <a16:creationId xmlns:a16="http://schemas.microsoft.com/office/drawing/2014/main" id="{AA4AD38B-444D-68D3-65CA-BBC2D7F4E5F1}"/>
              </a:ext>
            </a:extLst>
          </p:cNvPr>
          <p:cNvSpPr/>
          <p:nvPr/>
        </p:nvSpPr>
        <p:spPr>
          <a:xfrm>
            <a:off x="2371344" y="1661392"/>
            <a:ext cx="5401056" cy="339188"/>
          </a:xfrm>
          <a:prstGeom prst="roundRect">
            <a:avLst/>
          </a:prstGeom>
          <a:solidFill>
            <a:schemeClr val="bg2">
              <a:lumMod val="90000"/>
              <a:lumOff val="10000"/>
            </a:schemeClr>
          </a:solidFill>
          <a:ln w="19050">
            <a:solidFill>
              <a:schemeClr val="accent4">
                <a:alpha val="3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900" dirty="0">
                <a:latin typeface="Source Code Pro Light"/>
                <a:ea typeface="Source Code Pro Light"/>
                <a:cs typeface="Source Code Pro Light"/>
              </a:rPr>
              <a:t>⇒ +40 pre-built connectors, Salesforce, Jira, ServiceNow, Zendesk…</a:t>
            </a: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6" name="Google Shape;590;p53">
            <a:extLst>
              <a:ext uri="{FF2B5EF4-FFF2-40B4-BE49-F238E27FC236}">
                <a16:creationId xmlns:a16="http://schemas.microsoft.com/office/drawing/2014/main" id="{9646D6D1-AF57-C465-BF80-3B6C30610959}"/>
              </a:ext>
            </a:extLst>
          </p:cNvPr>
          <p:cNvSpPr txBox="1">
            <a:spLocks/>
          </p:cNvSpPr>
          <p:nvPr/>
        </p:nvSpPr>
        <p:spPr>
          <a:xfrm>
            <a:off x="934730" y="1668767"/>
            <a:ext cx="1351270" cy="339188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de-DE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eko"/>
                <a:ea typeface="Teko"/>
                <a:cs typeface="Teko"/>
                <a:sym typeface="Teko"/>
              </a:rPr>
              <a:t>Enterprise Integration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3FCAD6FE-7CD7-B460-729B-29A57B0217DC}"/>
              </a:ext>
            </a:extLst>
          </p:cNvPr>
          <p:cNvSpPr/>
          <p:nvPr/>
        </p:nvSpPr>
        <p:spPr>
          <a:xfrm>
            <a:off x="2368296" y="2064235"/>
            <a:ext cx="5401056" cy="361625"/>
          </a:xfrm>
          <a:prstGeom prst="roundRect">
            <a:avLst/>
          </a:prstGeom>
          <a:solidFill>
            <a:schemeClr val="bg2">
              <a:lumMod val="90000"/>
              <a:lumOff val="10000"/>
            </a:schemeClr>
          </a:solidFill>
          <a:ln w="19050">
            <a:solidFill>
              <a:schemeClr val="accent4">
                <a:alpha val="3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900" dirty="0">
                <a:latin typeface="Source Code Pro Light"/>
                <a:ea typeface="Source Code Pro Light"/>
                <a:cs typeface="Source Code Pro Light"/>
              </a:rPr>
              <a:t>⇒ Web based interface, integration with Microsoft Teams, Slack. </a:t>
            </a: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8" name="Google Shape;590;p53">
            <a:extLst>
              <a:ext uri="{FF2B5EF4-FFF2-40B4-BE49-F238E27FC236}">
                <a16:creationId xmlns:a16="http://schemas.microsoft.com/office/drawing/2014/main" id="{F2330056-92BB-855D-1DA1-E36ED99E8096}"/>
              </a:ext>
            </a:extLst>
          </p:cNvPr>
          <p:cNvSpPr txBox="1">
            <a:spLocks/>
          </p:cNvSpPr>
          <p:nvPr/>
        </p:nvSpPr>
        <p:spPr>
          <a:xfrm>
            <a:off x="934730" y="2071608"/>
            <a:ext cx="1351270" cy="354252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eko"/>
                <a:ea typeface="Teko"/>
                <a:cs typeface="Teko"/>
              </a:rPr>
              <a:t>User-Friendly Interface</a:t>
            </a:r>
            <a:endParaRPr lang="de-DE" sz="1050" b="1" dirty="0">
              <a:solidFill>
                <a:schemeClr val="accent1">
                  <a:lumMod val="60000"/>
                  <a:lumOff val="40000"/>
                </a:schemeClr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CB3C56E4-4F51-8911-5ABF-96E20B5C392F}"/>
              </a:ext>
            </a:extLst>
          </p:cNvPr>
          <p:cNvSpPr/>
          <p:nvPr/>
        </p:nvSpPr>
        <p:spPr>
          <a:xfrm>
            <a:off x="2362200" y="2520572"/>
            <a:ext cx="5410200" cy="282181"/>
          </a:xfrm>
          <a:prstGeom prst="roundRect">
            <a:avLst/>
          </a:prstGeom>
          <a:solidFill>
            <a:schemeClr val="bg2">
              <a:lumMod val="90000"/>
              <a:lumOff val="10000"/>
            </a:schemeClr>
          </a:solidFill>
          <a:ln w="19050">
            <a:solidFill>
              <a:schemeClr val="accent4">
                <a:alpha val="3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900" dirty="0">
                <a:latin typeface="Source Code Pro Light"/>
                <a:ea typeface="Source Code Pro Light"/>
                <a:cs typeface="Source Code Pro Light"/>
              </a:rPr>
              <a:t>⇒ Quick setup, without any code.</a:t>
            </a: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0" name="Google Shape;590;p53">
            <a:extLst>
              <a:ext uri="{FF2B5EF4-FFF2-40B4-BE49-F238E27FC236}">
                <a16:creationId xmlns:a16="http://schemas.microsoft.com/office/drawing/2014/main" id="{B31F9D03-5BE2-1F9D-08B2-2529AC0D67DD}"/>
              </a:ext>
            </a:extLst>
          </p:cNvPr>
          <p:cNvSpPr txBox="1">
            <a:spLocks/>
          </p:cNvSpPr>
          <p:nvPr/>
        </p:nvSpPr>
        <p:spPr>
          <a:xfrm>
            <a:off x="934730" y="2540636"/>
            <a:ext cx="1351270" cy="26743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rgbClr val="FFFFFF"/>
              </a:buClr>
              <a:buSzPts val="3200"/>
              <a:buFont typeface="Teko Medium"/>
              <a:buNone/>
              <a:defRPr sz="1600" b="1">
                <a:solidFill>
                  <a:schemeClr val="bg1"/>
                </a:solidFill>
                <a:latin typeface="Teko"/>
                <a:ea typeface="Teko"/>
                <a:cs typeface="Teko"/>
              </a:defRPr>
            </a:lvl1pPr>
            <a:lvl2pPr algn="ctr">
              <a:buClr>
                <a:srgbClr val="FFFFFF"/>
              </a:buClr>
              <a:buSzPts val="3200"/>
              <a:buFont typeface="Teko Medium"/>
              <a:buNone/>
              <a:defRPr sz="3200">
                <a:solidFill>
                  <a:srgbClr val="FFFFFF"/>
                </a:solidFill>
                <a:latin typeface="Teko Medium"/>
                <a:ea typeface="Teko Medium"/>
                <a:cs typeface="Teko Medium"/>
              </a:defRPr>
            </a:lvl2pPr>
            <a:lvl3pPr algn="ctr">
              <a:buClr>
                <a:srgbClr val="FFFFFF"/>
              </a:buClr>
              <a:buSzPts val="3200"/>
              <a:buFont typeface="Teko Medium"/>
              <a:buNone/>
              <a:defRPr sz="3200">
                <a:solidFill>
                  <a:srgbClr val="FFFFFF"/>
                </a:solidFill>
                <a:latin typeface="Teko Medium"/>
                <a:ea typeface="Teko Medium"/>
                <a:cs typeface="Teko Medium"/>
              </a:defRPr>
            </a:lvl3pPr>
            <a:lvl4pPr algn="ctr">
              <a:buClr>
                <a:srgbClr val="FFFFFF"/>
              </a:buClr>
              <a:buSzPts val="3200"/>
              <a:buFont typeface="Teko Medium"/>
              <a:buNone/>
              <a:defRPr sz="3200">
                <a:solidFill>
                  <a:srgbClr val="FFFFFF"/>
                </a:solidFill>
                <a:latin typeface="Teko Medium"/>
                <a:ea typeface="Teko Medium"/>
                <a:cs typeface="Teko Medium"/>
              </a:defRPr>
            </a:lvl4pPr>
            <a:lvl5pPr algn="ctr">
              <a:buClr>
                <a:srgbClr val="FFFFFF"/>
              </a:buClr>
              <a:buSzPts val="3200"/>
              <a:buFont typeface="Teko Medium"/>
              <a:buNone/>
              <a:defRPr sz="3200">
                <a:solidFill>
                  <a:srgbClr val="FFFFFF"/>
                </a:solidFill>
                <a:latin typeface="Teko Medium"/>
                <a:ea typeface="Teko Medium"/>
                <a:cs typeface="Teko Medium"/>
              </a:defRPr>
            </a:lvl5pPr>
            <a:lvl6pPr algn="ctr">
              <a:buClr>
                <a:srgbClr val="FFFFFF"/>
              </a:buClr>
              <a:buSzPts val="3200"/>
              <a:buFont typeface="Teko Medium"/>
              <a:buNone/>
              <a:defRPr sz="3200">
                <a:solidFill>
                  <a:srgbClr val="FFFFFF"/>
                </a:solidFill>
                <a:latin typeface="Teko Medium"/>
                <a:ea typeface="Teko Medium"/>
                <a:cs typeface="Teko Medium"/>
              </a:defRPr>
            </a:lvl6pPr>
            <a:lvl7pPr algn="ctr">
              <a:buClr>
                <a:srgbClr val="FFFFFF"/>
              </a:buClr>
              <a:buSzPts val="3200"/>
              <a:buFont typeface="Teko Medium"/>
              <a:buNone/>
              <a:defRPr sz="3200">
                <a:solidFill>
                  <a:srgbClr val="FFFFFF"/>
                </a:solidFill>
                <a:latin typeface="Teko Medium"/>
                <a:ea typeface="Teko Medium"/>
                <a:cs typeface="Teko Medium"/>
              </a:defRPr>
            </a:lvl7pPr>
            <a:lvl8pPr algn="ctr">
              <a:buClr>
                <a:srgbClr val="FFFFFF"/>
              </a:buClr>
              <a:buSzPts val="3200"/>
              <a:buFont typeface="Teko Medium"/>
              <a:buNone/>
              <a:defRPr sz="3200">
                <a:solidFill>
                  <a:srgbClr val="FFFFFF"/>
                </a:solidFill>
                <a:latin typeface="Teko Medium"/>
                <a:ea typeface="Teko Medium"/>
                <a:cs typeface="Teko Medium"/>
              </a:defRPr>
            </a:lvl8pPr>
            <a:lvl9pPr algn="ctr">
              <a:buClr>
                <a:srgbClr val="FFFFFF"/>
              </a:buClr>
              <a:buSzPts val="3200"/>
              <a:buFont typeface="Teko Medium"/>
              <a:buNone/>
              <a:defRPr sz="3200">
                <a:solidFill>
                  <a:srgbClr val="FFFFFF"/>
                </a:solidFill>
                <a:latin typeface="Teko Medium"/>
                <a:ea typeface="Teko Medium"/>
                <a:cs typeface="Teko Medium"/>
              </a:defRPr>
            </a:lvl9pPr>
          </a:lstStyle>
          <a:p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sym typeface="Teko Medium"/>
              </a:rPr>
              <a:t>Rapid Deployment</a:t>
            </a:r>
            <a:endParaRPr lang="de-DE" sz="1200" dirty="0">
              <a:solidFill>
                <a:schemeClr val="accent1">
                  <a:lumMod val="60000"/>
                  <a:lumOff val="40000"/>
                </a:schemeClr>
              </a:solidFill>
              <a:sym typeface="Teko"/>
            </a:endParaRPr>
          </a:p>
        </p:txBody>
      </p:sp>
      <p:sp>
        <p:nvSpPr>
          <p:cNvPr id="11" name="Google Shape;590;p53">
            <a:extLst>
              <a:ext uri="{FF2B5EF4-FFF2-40B4-BE49-F238E27FC236}">
                <a16:creationId xmlns:a16="http://schemas.microsoft.com/office/drawing/2014/main" id="{480C4503-CA2D-B561-A2C6-6D863B14B77F}"/>
              </a:ext>
            </a:extLst>
          </p:cNvPr>
          <p:cNvSpPr txBox="1">
            <a:spLocks/>
          </p:cNvSpPr>
          <p:nvPr/>
        </p:nvSpPr>
        <p:spPr>
          <a:xfrm>
            <a:off x="940827" y="2922846"/>
            <a:ext cx="1345172" cy="41826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eko"/>
                <a:ea typeface="Teko"/>
                <a:cs typeface="Teko"/>
                <a:sym typeface="Arial"/>
              </a:rPr>
              <a:t>Managed Infrastructure</a:t>
            </a:r>
            <a:endParaRPr lang="de-DE" sz="1050" b="1" dirty="0">
              <a:solidFill>
                <a:schemeClr val="accent1">
                  <a:lumMod val="60000"/>
                  <a:lumOff val="40000"/>
                </a:schemeClr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12" name="Rectangle: Rounded Corners 10">
            <a:extLst>
              <a:ext uri="{FF2B5EF4-FFF2-40B4-BE49-F238E27FC236}">
                <a16:creationId xmlns:a16="http://schemas.microsoft.com/office/drawing/2014/main" id="{C62214E8-FEE5-E56D-CD73-D0A0EEFE3A9C}"/>
              </a:ext>
            </a:extLst>
          </p:cNvPr>
          <p:cNvSpPr/>
          <p:nvPr/>
        </p:nvSpPr>
        <p:spPr>
          <a:xfrm>
            <a:off x="2362200" y="2915471"/>
            <a:ext cx="5407152" cy="418269"/>
          </a:xfrm>
          <a:prstGeom prst="roundRect">
            <a:avLst/>
          </a:prstGeom>
          <a:solidFill>
            <a:schemeClr val="bg2">
              <a:lumMod val="90000"/>
              <a:lumOff val="10000"/>
            </a:schemeClr>
          </a:solidFill>
          <a:ln w="19050">
            <a:solidFill>
              <a:schemeClr val="accent4">
                <a:alpha val="3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900" dirty="0">
                <a:latin typeface="Source Code Pro Light"/>
                <a:ea typeface="Source Code Pro Light"/>
                <a:cs typeface="Source Code Pro Light"/>
              </a:rPr>
              <a:t>⇒ need for managing infrastructure.</a:t>
            </a: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4" name="Google Shape;590;p53">
            <a:extLst>
              <a:ext uri="{FF2B5EF4-FFF2-40B4-BE49-F238E27FC236}">
                <a16:creationId xmlns:a16="http://schemas.microsoft.com/office/drawing/2014/main" id="{4F8A4100-DDDF-8488-E1C4-C543ABD1F8AD}"/>
              </a:ext>
            </a:extLst>
          </p:cNvPr>
          <p:cNvSpPr txBox="1">
            <a:spLocks/>
          </p:cNvSpPr>
          <p:nvPr/>
        </p:nvSpPr>
        <p:spPr>
          <a:xfrm>
            <a:off x="940828" y="3426779"/>
            <a:ext cx="1345171" cy="26884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eko"/>
                <a:ea typeface="Teko"/>
                <a:cs typeface="Teko"/>
                <a:sym typeface="Arial"/>
              </a:rPr>
              <a:t>Access Control</a:t>
            </a:r>
            <a:endParaRPr lang="de-DE" sz="1200" b="1" dirty="0">
              <a:solidFill>
                <a:schemeClr val="accent1">
                  <a:lumMod val="60000"/>
                  <a:lumOff val="40000"/>
                </a:schemeClr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15" name="Rectangle: Rounded Corners 10">
            <a:extLst>
              <a:ext uri="{FF2B5EF4-FFF2-40B4-BE49-F238E27FC236}">
                <a16:creationId xmlns:a16="http://schemas.microsoft.com/office/drawing/2014/main" id="{59DA74F5-6CCB-583C-BE06-A60C50BE1670}"/>
              </a:ext>
            </a:extLst>
          </p:cNvPr>
          <p:cNvSpPr/>
          <p:nvPr/>
        </p:nvSpPr>
        <p:spPr>
          <a:xfrm>
            <a:off x="2371344" y="3420108"/>
            <a:ext cx="5407152" cy="282181"/>
          </a:xfrm>
          <a:prstGeom prst="roundRect">
            <a:avLst/>
          </a:prstGeom>
          <a:solidFill>
            <a:schemeClr val="bg2">
              <a:lumMod val="90000"/>
              <a:lumOff val="10000"/>
            </a:schemeClr>
          </a:solidFill>
          <a:ln w="19050">
            <a:solidFill>
              <a:schemeClr val="accent4">
                <a:alpha val="3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900" dirty="0">
                <a:latin typeface="Source Code Pro Light"/>
                <a:ea typeface="Source Code Pro Light"/>
                <a:cs typeface="Source Code Pro Light"/>
              </a:rPr>
              <a:t>⇒ Respects user permissions within integrated enterprise applications.</a:t>
            </a: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6" name="Google Shape;590;p53">
            <a:extLst>
              <a:ext uri="{FF2B5EF4-FFF2-40B4-BE49-F238E27FC236}">
                <a16:creationId xmlns:a16="http://schemas.microsoft.com/office/drawing/2014/main" id="{946B6B73-2ECE-ECA9-BDEA-7D07F6B67135}"/>
              </a:ext>
            </a:extLst>
          </p:cNvPr>
          <p:cNvSpPr txBox="1">
            <a:spLocks/>
          </p:cNvSpPr>
          <p:nvPr/>
        </p:nvSpPr>
        <p:spPr>
          <a:xfrm>
            <a:off x="940827" y="3838101"/>
            <a:ext cx="1345171" cy="26884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eko"/>
                <a:ea typeface="Teko"/>
                <a:cs typeface="Teko"/>
              </a:rPr>
              <a:t>Data Integration</a:t>
            </a:r>
            <a:endParaRPr lang="de-DE" sz="1200" b="1" dirty="0">
              <a:solidFill>
                <a:schemeClr val="accent1">
                  <a:lumMod val="60000"/>
                  <a:lumOff val="40000"/>
                </a:schemeClr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17" name="Rectangle: Rounded Corners 10">
            <a:extLst>
              <a:ext uri="{FF2B5EF4-FFF2-40B4-BE49-F238E27FC236}">
                <a16:creationId xmlns:a16="http://schemas.microsoft.com/office/drawing/2014/main" id="{05C6694C-1976-142D-DFB1-25279C36E4C9}"/>
              </a:ext>
            </a:extLst>
          </p:cNvPr>
          <p:cNvSpPr/>
          <p:nvPr/>
        </p:nvSpPr>
        <p:spPr>
          <a:xfrm>
            <a:off x="2371344" y="3805346"/>
            <a:ext cx="5407152" cy="322145"/>
          </a:xfrm>
          <a:prstGeom prst="roundRect">
            <a:avLst/>
          </a:prstGeom>
          <a:solidFill>
            <a:schemeClr val="bg2">
              <a:lumMod val="90000"/>
              <a:lumOff val="10000"/>
            </a:schemeClr>
          </a:solidFill>
          <a:ln w="19050">
            <a:solidFill>
              <a:schemeClr val="accent4">
                <a:alpha val="3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900" dirty="0">
                <a:latin typeface="Source Code Pro Light"/>
                <a:ea typeface="Source Code Pro Light"/>
                <a:cs typeface="Source Code Pro Light"/>
              </a:rPr>
              <a:t>⇒ Amazon S3, Salesforce, Oracle, Google Drive, Microsoft 365, and more.</a:t>
            </a: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8" name="Google Shape;590;p53">
            <a:extLst>
              <a:ext uri="{FF2B5EF4-FFF2-40B4-BE49-F238E27FC236}">
                <a16:creationId xmlns:a16="http://schemas.microsoft.com/office/drawing/2014/main" id="{70E4EBB1-8521-556B-FDFF-DCF2A22684AB}"/>
              </a:ext>
            </a:extLst>
          </p:cNvPr>
          <p:cNvSpPr txBox="1">
            <a:spLocks/>
          </p:cNvSpPr>
          <p:nvPr/>
        </p:nvSpPr>
        <p:spPr>
          <a:xfrm>
            <a:off x="940827" y="4281826"/>
            <a:ext cx="1345171" cy="42352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eko"/>
                <a:ea typeface="Teko"/>
                <a:cs typeface="Teko"/>
              </a:rPr>
              <a:t>Administrative Controls</a:t>
            </a:r>
            <a:endParaRPr lang="de-DE" sz="1100" b="1" dirty="0">
              <a:solidFill>
                <a:schemeClr val="accent1">
                  <a:lumMod val="60000"/>
                  <a:lumOff val="40000"/>
                </a:schemeClr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19" name="Rectangle: Rounded Corners 10">
            <a:extLst>
              <a:ext uri="{FF2B5EF4-FFF2-40B4-BE49-F238E27FC236}">
                <a16:creationId xmlns:a16="http://schemas.microsoft.com/office/drawing/2014/main" id="{D60C1FA2-810C-4ABF-A716-02B2ABB152E7}"/>
              </a:ext>
            </a:extLst>
          </p:cNvPr>
          <p:cNvSpPr/>
          <p:nvPr/>
        </p:nvSpPr>
        <p:spPr>
          <a:xfrm>
            <a:off x="2371344" y="4271482"/>
            <a:ext cx="5407152" cy="423523"/>
          </a:xfrm>
          <a:prstGeom prst="roundRect">
            <a:avLst/>
          </a:prstGeom>
          <a:solidFill>
            <a:schemeClr val="bg2">
              <a:lumMod val="90000"/>
              <a:lumOff val="10000"/>
            </a:schemeClr>
          </a:solidFill>
          <a:ln w="19050">
            <a:solidFill>
              <a:schemeClr val="accent4">
                <a:alpha val="3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900" dirty="0">
                <a:latin typeface="Source Code Pro Light"/>
                <a:ea typeface="Source Code Pro Light"/>
                <a:cs typeface="Source Code Pro Light"/>
              </a:rPr>
              <a:t>⇒ specific guardrails and controls.</a:t>
            </a: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39248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>
          <a:blip r:embed="rId4">
            <a:alphaModFix amt="19000"/>
          </a:blip>
          <a:stretch>
            <a:fillRect/>
          </a:stretch>
        </p:blipFill>
        <p:spPr>
          <a:xfrm>
            <a:off x="6934200" y="-1095736"/>
            <a:ext cx="2493585" cy="249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4;p23">
            <a:extLst>
              <a:ext uri="{FF2B5EF4-FFF2-40B4-BE49-F238E27FC236}">
                <a16:creationId xmlns:a16="http://schemas.microsoft.com/office/drawing/2014/main" id="{117969D3-D586-2F60-3DBD-E2524685662F}"/>
              </a:ext>
            </a:extLst>
          </p:cNvPr>
          <p:cNvSpPr txBox="1">
            <a:spLocks/>
          </p:cNvSpPr>
          <p:nvPr/>
        </p:nvSpPr>
        <p:spPr>
          <a:xfrm>
            <a:off x="914400" y="558959"/>
            <a:ext cx="44958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2000"/>
            </a:pPr>
            <a:r>
              <a:rPr lang="en-US" sz="3200" b="1" dirty="0">
                <a:solidFill>
                  <a:schemeClr val="bg1"/>
                </a:solidFill>
              </a:rPr>
              <a:t>Amazon Q Business</a:t>
            </a:r>
          </a:p>
        </p:txBody>
      </p:sp>
      <p:sp>
        <p:nvSpPr>
          <p:cNvPr id="4" name="Google Shape;2694;p229">
            <a:extLst>
              <a:ext uri="{FF2B5EF4-FFF2-40B4-BE49-F238E27FC236}">
                <a16:creationId xmlns:a16="http://schemas.microsoft.com/office/drawing/2014/main" id="{4291B0CC-F6D2-E205-691D-B907C8CD7289}"/>
              </a:ext>
            </a:extLst>
          </p:cNvPr>
          <p:cNvSpPr txBox="1"/>
          <p:nvPr/>
        </p:nvSpPr>
        <p:spPr>
          <a:xfrm>
            <a:off x="926042" y="1081005"/>
            <a:ext cx="2971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/>
            </a:pPr>
            <a:r>
              <a:rPr lang="en-US" sz="2400" u="sng" dirty="0">
                <a:solidFill>
                  <a:srgbClr val="E7AC4C"/>
                </a:solidFill>
                <a:latin typeface="Teko"/>
                <a:cs typeface="Teko"/>
              </a:rPr>
              <a:t>Use Cases:</a:t>
            </a:r>
          </a:p>
        </p:txBody>
      </p:sp>
      <p:sp>
        <p:nvSpPr>
          <p:cNvPr id="3" name="Rectangle: Rounded Corners 116">
            <a:extLst>
              <a:ext uri="{FF2B5EF4-FFF2-40B4-BE49-F238E27FC236}">
                <a16:creationId xmlns:a16="http://schemas.microsoft.com/office/drawing/2014/main" id="{97BE2002-E3F2-DC29-3C17-7B88B4BE8CA2}"/>
              </a:ext>
            </a:extLst>
          </p:cNvPr>
          <p:cNvSpPr/>
          <p:nvPr/>
        </p:nvSpPr>
        <p:spPr>
          <a:xfrm>
            <a:off x="933662" y="2157016"/>
            <a:ext cx="2021310" cy="1710133"/>
          </a:xfrm>
          <a:prstGeom prst="roundRect">
            <a:avLst/>
          </a:prstGeom>
          <a:solidFill>
            <a:srgbClr val="2F3C4F">
              <a:alpha val="52000"/>
            </a:srgbClr>
          </a:solidFill>
          <a:ln w="19050" cap="flat" cmpd="sng">
            <a:gradFill>
              <a:gsLst>
                <a:gs pos="0">
                  <a:schemeClr val="accent1">
                    <a:lumMod val="5000"/>
                    <a:lumOff val="95000"/>
                    <a:alpha val="44000"/>
                  </a:schemeClr>
                </a:gs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buClr>
                <a:schemeClr val="bg1"/>
              </a:buClr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Marketing &amp; Sales</a:t>
            </a:r>
            <a:r>
              <a:rPr lang="en-US" sz="9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: Generate blog posts, social media headlines.</a:t>
            </a:r>
          </a:p>
          <a:p>
            <a:pPr lvl="1">
              <a:buClr>
                <a:schemeClr val="bg1"/>
              </a:buClr>
            </a:pP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lvl="1">
              <a:buClr>
                <a:schemeClr val="bg1"/>
              </a:buClr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Research</a:t>
            </a:r>
            <a:r>
              <a:rPr lang="en-US" sz="9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: Summarize academic papers, create new sections.</a:t>
            </a:r>
          </a:p>
        </p:txBody>
      </p:sp>
      <p:sp>
        <p:nvSpPr>
          <p:cNvPr id="13" name="Google Shape;590;p53">
            <a:extLst>
              <a:ext uri="{FF2B5EF4-FFF2-40B4-BE49-F238E27FC236}">
                <a16:creationId xmlns:a16="http://schemas.microsoft.com/office/drawing/2014/main" id="{83A89245-A4FD-DF82-C67D-2171A07BFAA6}"/>
              </a:ext>
            </a:extLst>
          </p:cNvPr>
          <p:cNvSpPr txBox="1">
            <a:spLocks/>
          </p:cNvSpPr>
          <p:nvPr/>
        </p:nvSpPr>
        <p:spPr>
          <a:xfrm>
            <a:off x="1258517" y="1803713"/>
            <a:ext cx="1371600" cy="260520"/>
          </a:xfrm>
          <a:prstGeom prst="rect">
            <a:avLst/>
          </a:prstGeom>
          <a:solidFill>
            <a:srgbClr val="3E48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de-DE" sz="1200" b="1" dirty="0">
                <a:solidFill>
                  <a:schemeClr val="bg1"/>
                </a:solidFill>
                <a:latin typeface="Teko"/>
                <a:ea typeface="Teko"/>
                <a:cs typeface="Teko"/>
                <a:sym typeface="Teko"/>
              </a:rPr>
              <a:t>Content </a:t>
            </a:r>
            <a:r>
              <a:rPr lang="de-DE" sz="1200" b="1" dirty="0" err="1">
                <a:solidFill>
                  <a:schemeClr val="bg1"/>
                </a:solidFill>
                <a:latin typeface="Teko"/>
                <a:ea typeface="Teko"/>
                <a:cs typeface="Teko"/>
                <a:sym typeface="Teko"/>
              </a:rPr>
              <a:t>Creation</a:t>
            </a:r>
            <a:endParaRPr lang="de-DE" sz="1200" b="1" dirty="0">
              <a:solidFill>
                <a:schemeClr val="bg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1" name="Rectangle: Rounded Corners 116">
            <a:extLst>
              <a:ext uri="{FF2B5EF4-FFF2-40B4-BE49-F238E27FC236}">
                <a16:creationId xmlns:a16="http://schemas.microsoft.com/office/drawing/2014/main" id="{32E8ABEF-A060-A4C8-62C6-C888D5E7CC59}"/>
              </a:ext>
            </a:extLst>
          </p:cNvPr>
          <p:cNvSpPr/>
          <p:nvPr/>
        </p:nvSpPr>
        <p:spPr>
          <a:xfrm>
            <a:off x="3022758" y="2157018"/>
            <a:ext cx="2539842" cy="1710131"/>
          </a:xfrm>
          <a:prstGeom prst="roundRect">
            <a:avLst/>
          </a:prstGeom>
          <a:solidFill>
            <a:srgbClr val="2F3C4F">
              <a:alpha val="52000"/>
            </a:srgbClr>
          </a:solidFill>
          <a:ln w="19050" cap="flat" cmpd="sng">
            <a:gradFill>
              <a:gsLst>
                <a:gs pos="0">
                  <a:schemeClr val="accent1">
                    <a:lumMod val="5000"/>
                    <a:lumOff val="95000"/>
                    <a:alpha val="44000"/>
                  </a:schemeClr>
                </a:gs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buClr>
                <a:schemeClr val="bg1"/>
              </a:buClr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Knowledge Management</a:t>
            </a:r>
            <a:r>
              <a:rPr lang="en-US" sz="9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: Find specific docs like company policies.</a:t>
            </a:r>
          </a:p>
          <a:p>
            <a:pPr lvl="1">
              <a:buClr>
                <a:schemeClr val="bg1"/>
              </a:buClr>
            </a:pP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lvl="1">
              <a:buClr>
                <a:schemeClr val="bg1"/>
              </a:buClr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Support</a:t>
            </a:r>
            <a:r>
              <a:rPr lang="en-US" sz="9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: Get customer support for common issues.</a:t>
            </a:r>
          </a:p>
          <a:p>
            <a:pPr lvl="1">
              <a:buClr>
                <a:schemeClr val="bg1"/>
              </a:buClr>
            </a:pP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lvl="1">
              <a:buClr>
                <a:schemeClr val="bg1"/>
              </a:buClr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Executive Summaries</a:t>
            </a:r>
            <a:r>
              <a:rPr lang="en-US" sz="9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: Summarize long meetings and project reports.</a:t>
            </a:r>
          </a:p>
        </p:txBody>
      </p:sp>
      <p:sp>
        <p:nvSpPr>
          <p:cNvPr id="22" name="Google Shape;590;p53">
            <a:extLst>
              <a:ext uri="{FF2B5EF4-FFF2-40B4-BE49-F238E27FC236}">
                <a16:creationId xmlns:a16="http://schemas.microsoft.com/office/drawing/2014/main" id="{EA8443A4-340B-7C0A-6685-47C87337D32D}"/>
              </a:ext>
            </a:extLst>
          </p:cNvPr>
          <p:cNvSpPr txBox="1">
            <a:spLocks/>
          </p:cNvSpPr>
          <p:nvPr/>
        </p:nvSpPr>
        <p:spPr>
          <a:xfrm>
            <a:off x="3543418" y="1803713"/>
            <a:ext cx="1498521" cy="260520"/>
          </a:xfrm>
          <a:prstGeom prst="rect">
            <a:avLst/>
          </a:prstGeom>
          <a:solidFill>
            <a:srgbClr val="3E48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de-DE" sz="1200" b="1" dirty="0">
                <a:solidFill>
                  <a:schemeClr val="bg1"/>
                </a:solidFill>
                <a:latin typeface="Teko"/>
                <a:ea typeface="Teko"/>
                <a:cs typeface="Teko"/>
                <a:sym typeface="Teko"/>
              </a:rPr>
              <a:t>Enterprise Use-Cases</a:t>
            </a:r>
          </a:p>
        </p:txBody>
      </p:sp>
      <p:sp>
        <p:nvSpPr>
          <p:cNvPr id="23" name="Rectangle: Rounded Corners 116">
            <a:extLst>
              <a:ext uri="{FF2B5EF4-FFF2-40B4-BE49-F238E27FC236}">
                <a16:creationId xmlns:a16="http://schemas.microsoft.com/office/drawing/2014/main" id="{A7831054-468B-FE67-F430-F0820D8082A1}"/>
              </a:ext>
            </a:extLst>
          </p:cNvPr>
          <p:cNvSpPr/>
          <p:nvPr/>
        </p:nvSpPr>
        <p:spPr>
          <a:xfrm>
            <a:off x="5638800" y="2157017"/>
            <a:ext cx="2021310" cy="1710131"/>
          </a:xfrm>
          <a:prstGeom prst="roundRect">
            <a:avLst/>
          </a:prstGeom>
          <a:solidFill>
            <a:srgbClr val="2F3C4F">
              <a:alpha val="52000"/>
            </a:srgbClr>
          </a:solidFill>
          <a:ln w="19050" cap="flat" cmpd="sng">
            <a:gradFill>
              <a:gsLst>
                <a:gs pos="0">
                  <a:schemeClr val="accent1">
                    <a:lumMod val="5000"/>
                    <a:lumOff val="95000"/>
                    <a:alpha val="44000"/>
                  </a:schemeClr>
                </a:gs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buClr>
                <a:schemeClr val="bg1"/>
              </a:buClr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Comparative Analysis</a:t>
            </a:r>
            <a:r>
              <a:rPr lang="en-US" sz="9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: Compare documents, identify trends.</a:t>
            </a:r>
          </a:p>
          <a:p>
            <a:pPr lvl="1">
              <a:buClr>
                <a:schemeClr val="bg1"/>
              </a:buClr>
            </a:pP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lvl="1">
              <a:buClr>
                <a:schemeClr val="bg1"/>
              </a:buClr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Market Research</a:t>
            </a:r>
            <a:r>
              <a:rPr lang="en-US" sz="9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: Analyze market research, get insights</a:t>
            </a:r>
          </a:p>
          <a:p>
            <a:pPr lvl="1">
              <a:buClr>
                <a:schemeClr val="bg1"/>
              </a:buClr>
            </a:pPr>
            <a:endParaRPr lang="en-US" sz="9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4" name="Google Shape;590;p53">
            <a:extLst>
              <a:ext uri="{FF2B5EF4-FFF2-40B4-BE49-F238E27FC236}">
                <a16:creationId xmlns:a16="http://schemas.microsoft.com/office/drawing/2014/main" id="{F6A2D63F-99DF-4900-392F-568BF83A13F0}"/>
              </a:ext>
            </a:extLst>
          </p:cNvPr>
          <p:cNvSpPr txBox="1">
            <a:spLocks/>
          </p:cNvSpPr>
          <p:nvPr/>
        </p:nvSpPr>
        <p:spPr>
          <a:xfrm>
            <a:off x="5859382" y="1803713"/>
            <a:ext cx="1580145" cy="260520"/>
          </a:xfrm>
          <a:prstGeom prst="rect">
            <a:avLst/>
          </a:prstGeom>
          <a:solidFill>
            <a:srgbClr val="3E48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eko Medium"/>
              <a:buNone/>
              <a:defRPr sz="3200" b="0" i="0" u="none" strike="noStrike" cap="none">
                <a:solidFill>
                  <a:srgbClr val="FFFFFF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rPr lang="de-DE" sz="1200" b="1" dirty="0">
                <a:solidFill>
                  <a:schemeClr val="bg1"/>
                </a:solidFill>
                <a:latin typeface="Teko"/>
                <a:ea typeface="Teko"/>
                <a:cs typeface="Teko"/>
                <a:sym typeface="Teko"/>
              </a:rPr>
              <a:t>Key Insight Generation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2173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>
          <a:blip r:embed="rId4">
            <a:alphaModFix amt="19000"/>
          </a:blip>
          <a:stretch>
            <a:fillRect/>
          </a:stretch>
        </p:blipFill>
        <p:spPr>
          <a:xfrm>
            <a:off x="6934200" y="-1095736"/>
            <a:ext cx="2493585" cy="249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4;p23">
            <a:extLst>
              <a:ext uri="{FF2B5EF4-FFF2-40B4-BE49-F238E27FC236}">
                <a16:creationId xmlns:a16="http://schemas.microsoft.com/office/drawing/2014/main" id="{117969D3-D586-2F60-3DBD-E2524685662F}"/>
              </a:ext>
            </a:extLst>
          </p:cNvPr>
          <p:cNvSpPr txBox="1">
            <a:spLocks/>
          </p:cNvSpPr>
          <p:nvPr/>
        </p:nvSpPr>
        <p:spPr>
          <a:xfrm>
            <a:off x="914400" y="558959"/>
            <a:ext cx="44958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2000"/>
            </a:pPr>
            <a:r>
              <a:rPr lang="en-US" sz="3200" b="1" dirty="0">
                <a:solidFill>
                  <a:schemeClr val="bg1"/>
                </a:solidFill>
              </a:rPr>
              <a:t>Amazon Q Business</a:t>
            </a:r>
          </a:p>
        </p:txBody>
      </p:sp>
      <p:sp>
        <p:nvSpPr>
          <p:cNvPr id="4" name="Google Shape;2694;p229">
            <a:extLst>
              <a:ext uri="{FF2B5EF4-FFF2-40B4-BE49-F238E27FC236}">
                <a16:creationId xmlns:a16="http://schemas.microsoft.com/office/drawing/2014/main" id="{4291B0CC-F6D2-E205-691D-B907C8CD7289}"/>
              </a:ext>
            </a:extLst>
          </p:cNvPr>
          <p:cNvSpPr txBox="1"/>
          <p:nvPr/>
        </p:nvSpPr>
        <p:spPr>
          <a:xfrm>
            <a:off x="914400" y="1081005"/>
            <a:ext cx="2971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/>
            </a:pPr>
            <a:r>
              <a:rPr lang="en-US" sz="2400" u="sng" dirty="0">
                <a:solidFill>
                  <a:srgbClr val="E7AC4C"/>
                </a:solidFill>
                <a:latin typeface="Teko"/>
                <a:cs typeface="Teko"/>
              </a:rPr>
              <a:t>Technical Details:</a:t>
            </a:r>
          </a:p>
        </p:txBody>
      </p:sp>
      <p:sp>
        <p:nvSpPr>
          <p:cNvPr id="13" name="Google Shape;242;p23">
            <a:extLst>
              <a:ext uri="{FF2B5EF4-FFF2-40B4-BE49-F238E27FC236}">
                <a16:creationId xmlns:a16="http://schemas.microsoft.com/office/drawing/2014/main" id="{E9016E64-E0E5-8298-718D-58A93C25BD0A}"/>
              </a:ext>
            </a:extLst>
          </p:cNvPr>
          <p:cNvSpPr txBox="1">
            <a:spLocks/>
          </p:cNvSpPr>
          <p:nvPr/>
        </p:nvSpPr>
        <p:spPr>
          <a:xfrm>
            <a:off x="762000" y="1634972"/>
            <a:ext cx="7772400" cy="322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r>
              <a:rPr lang="en-US" sz="1200" dirty="0"/>
              <a:t>IAM Identity Center: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Purpose</a:t>
            </a:r>
            <a:r>
              <a:rPr lang="en-US" sz="800" dirty="0"/>
              <a:t>: Manages user access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Function</a:t>
            </a:r>
            <a:r>
              <a:rPr lang="en-US" sz="800" dirty="0"/>
              <a:t>: Connects existing identity provider. Users can interact with Amazon Q Business.</a:t>
            </a:r>
          </a:p>
          <a:p>
            <a:pPr marL="596900" lvl="1" indent="0">
              <a:buNone/>
            </a:pPr>
            <a:endParaRPr lang="en-US" sz="800" dirty="0"/>
          </a:p>
          <a:p>
            <a:r>
              <a:rPr lang="en-US" sz="1200" dirty="0"/>
              <a:t>Retrieval Augmented Generation (RAG):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Purpose</a:t>
            </a:r>
            <a:r>
              <a:rPr lang="en-US" sz="800" dirty="0"/>
              <a:t>: Enhances gen AI models with up-to-date information.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Function</a:t>
            </a:r>
            <a:r>
              <a:rPr lang="en-US" sz="800" dirty="0"/>
              <a:t>: Retrieves relevant data from external sources. Ensures response accuracy.</a:t>
            </a:r>
          </a:p>
          <a:p>
            <a:pPr lvl="1"/>
            <a:endParaRPr lang="en-US" sz="800" dirty="0"/>
          </a:p>
          <a:p>
            <a:r>
              <a:rPr lang="en-US" sz="1200" dirty="0"/>
              <a:t>Enterprise Data Access Control: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Purpose</a:t>
            </a:r>
            <a:r>
              <a:rPr lang="en-US" sz="800" dirty="0"/>
              <a:t>: Ensures data security and compliance.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Function</a:t>
            </a:r>
            <a:r>
              <a:rPr lang="en-US" sz="800" dirty="0"/>
              <a:t>: Respects user permissions and integrates with SAML 2.0 supported identity providers like Microsoft Entra ID.</a:t>
            </a:r>
          </a:p>
          <a:p>
            <a:pPr lvl="1"/>
            <a:endParaRPr lang="en-US" sz="800" dirty="0"/>
          </a:p>
          <a:p>
            <a:r>
              <a:rPr lang="en-US" sz="1200" dirty="0"/>
              <a:t>Data Integration and Updates: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Purpose</a:t>
            </a:r>
            <a:r>
              <a:rPr lang="en-US" sz="800" dirty="0"/>
              <a:t>: Connects Amazon Q Business to various enterprise data sources..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Function</a:t>
            </a:r>
            <a:r>
              <a:rPr lang="en-US" sz="800" dirty="0"/>
              <a:t>: Uses pre-built connectors for easy integration.</a:t>
            </a:r>
          </a:p>
          <a:p>
            <a:pPr lvl="1"/>
            <a:endParaRPr lang="en-US" sz="800" dirty="0"/>
          </a:p>
          <a:p>
            <a:r>
              <a:rPr lang="en-US" sz="1200" dirty="0"/>
              <a:t>Plugins: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Purpose</a:t>
            </a:r>
            <a:r>
              <a:rPr lang="en-US" sz="800" dirty="0"/>
              <a:t>: Extends Amazon Q business’ functionality</a:t>
            </a:r>
          </a:p>
          <a:p>
            <a:pPr lvl="1"/>
            <a:r>
              <a:rPr lang="en-US" sz="900" dirty="0">
                <a:solidFill>
                  <a:schemeClr val="accent1"/>
                </a:solidFill>
              </a:rPr>
              <a:t>Function</a:t>
            </a:r>
            <a:r>
              <a:rPr lang="en-US" sz="800" dirty="0"/>
              <a:t>: Allows interaction with popular 3</a:t>
            </a:r>
            <a:r>
              <a:rPr lang="en-US" sz="800" baseline="30000" dirty="0"/>
              <a:t>rd</a:t>
            </a:r>
            <a:r>
              <a:rPr lang="en-US" sz="800" dirty="0"/>
              <a:t> party applications like Jira, ServiceNow…</a:t>
            </a:r>
          </a:p>
          <a:p>
            <a:pPr lvl="1"/>
            <a:endParaRPr lang="en-US" sz="800" dirty="0"/>
          </a:p>
          <a:p>
            <a:pPr marL="596900" lvl="1" indent="0">
              <a:buNone/>
            </a:pPr>
            <a:endParaRPr lang="en-US" sz="1000" dirty="0"/>
          </a:p>
          <a:p>
            <a:pPr marL="114300" indent="0">
              <a:buNone/>
            </a:pPr>
            <a:endParaRPr lang="en-US" sz="1400" b="1" dirty="0">
              <a:latin typeface="Source Code Pro Black" panose="020B0309030403020204" pitchFamily="49" charset="0"/>
              <a:ea typeface="Source Code Pro Black" panose="020B0309030403020204" pitchFamily="49" charset="0"/>
            </a:endParaRPr>
          </a:p>
          <a:p>
            <a:pPr marL="114300" indent="0">
              <a:buNone/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15661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4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4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42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42.5"/>
</p:tagLst>
</file>

<file path=ppt/theme/theme1.xml><?xml version="1.0" encoding="utf-8"?>
<a:theme xmlns:a="http://schemas.openxmlformats.org/drawingml/2006/main" name="Astrophysics Lesson for College by Slidesgo">
  <a:themeElements>
    <a:clrScheme name="Custom 6">
      <a:dk1>
        <a:srgbClr val="1E1F24"/>
      </a:dk1>
      <a:lt1>
        <a:srgbClr val="FFFFFF"/>
      </a:lt1>
      <a:dk2>
        <a:srgbClr val="1E1F24"/>
      </a:dk2>
      <a:lt2>
        <a:srgbClr val="FFFFFF"/>
      </a:lt2>
      <a:accent1>
        <a:srgbClr val="FFAB40"/>
      </a:accent1>
      <a:accent2>
        <a:srgbClr val="F9E6AD"/>
      </a:accent2>
      <a:accent3>
        <a:srgbClr val="CC9D0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4278</TotalTime>
  <Words>352</Words>
  <Application>Microsoft Macintosh PowerPoint</Application>
  <PresentationFormat>On-screen Show (16:9)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Courier New</vt:lpstr>
      <vt:lpstr>Teko</vt:lpstr>
      <vt:lpstr>Source Code Pro Light</vt:lpstr>
      <vt:lpstr>Arial</vt:lpstr>
      <vt:lpstr>Teko Medium</vt:lpstr>
      <vt:lpstr>Source Code Pro Black</vt:lpstr>
      <vt:lpstr>Astrophysics Lesson for College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ASTROPHYSICS  LESSON FOR COLLEGE</dc:title>
  <dc:creator>Niko Schuler</dc:creator>
  <cp:lastModifiedBy>Onder Bora Baflı</cp:lastModifiedBy>
  <cp:revision>718</cp:revision>
  <dcterms:modified xsi:type="dcterms:W3CDTF">2024-07-17T20:57:28Z</dcterms:modified>
</cp:coreProperties>
</file>